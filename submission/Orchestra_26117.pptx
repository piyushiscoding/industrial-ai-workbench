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Arial" charset="1" panose="020B0604020202020204"/>
      <p:regular r:id="rId14"/>
    </p:embeddedFont>
    <p:embeddedFont>
      <p:font typeface="Poppins Bold" charset="1" panose="00000800000000000000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Poppins" charset="1" panose="00000500000000000000"/>
      <p:regular r:id="rId21"/>
    </p:embeddedFont>
    <p:embeddedFont>
      <p:font typeface="Poppins Semi-Bold" charset="1" panose="00000700000000000000"/>
      <p:regular r:id="rId22"/>
    </p:embeddedFont>
    <p:embeddedFont>
      <p:font typeface="Poppins Ultra-Bold" charset="1" panose="00000900000000000000"/>
      <p:regular r:id="rId24"/>
    </p:embeddedFont>
    <p:embeddedFont>
      <p:font typeface="Poppins Semi-Bold Italics" charset="1" panose="00000700000000000000"/>
      <p:regular r:id="rId26"/>
    </p:embeddedFont>
    <p:embeddedFont>
      <p:font typeface="Poppins Medium" charset="1" panose="000006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3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4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5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2" Target="../notesSlides/notesSlide1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png" Type="http://schemas.openxmlformats.org/officeDocument/2006/relationships/image"/><Relationship Id="rId12" Target="../media/image19.png" Type="http://schemas.openxmlformats.org/officeDocument/2006/relationships/image"/><Relationship Id="rId13" Target="../media/image20.png" Type="http://schemas.openxmlformats.org/officeDocument/2006/relationships/image"/><Relationship Id="rId14" Target="../media/image21.png" Type="http://schemas.openxmlformats.org/officeDocument/2006/relationships/image"/><Relationship Id="rId15" Target="../media/image22.png" Type="http://schemas.openxmlformats.org/officeDocument/2006/relationships/image"/><Relationship Id="rId16" Target="../media/image23.png" Type="http://schemas.openxmlformats.org/officeDocument/2006/relationships/image"/><Relationship Id="rId17" Target="../media/image24.png" Type="http://schemas.openxmlformats.org/officeDocument/2006/relationships/image"/><Relationship Id="rId18" Target="../media/image25.pn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11" Target="../media/image13.pn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12" Target="../media/image37.svg" Type="http://schemas.openxmlformats.org/officeDocument/2006/relationships/image"/><Relationship Id="rId13" Target="../media/image38.png" Type="http://schemas.openxmlformats.org/officeDocument/2006/relationships/image"/><Relationship Id="rId14" Target="../media/image12.png" Type="http://schemas.openxmlformats.org/officeDocument/2006/relationships/image"/><Relationship Id="rId15" Target="../media/image13.pn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30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40055" y="521527"/>
            <a:ext cx="9842278" cy="953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</a:p>
          <a:p>
            <a:pPr algn="l" marL="615315" indent="-307657" lvl="1">
              <a:lnSpc>
                <a:spcPts val="81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ID- </a:t>
            </a: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26117</a:t>
            </a:r>
          </a:p>
          <a:p>
            <a:pPr algn="l" marL="615315" indent="-307657" lvl="1">
              <a:lnSpc>
                <a:spcPts val="81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Sovereign On-Premise Agentic AI Workbench using Open-Weight Multimodal LLMs for Confidential Industrial Work</a:t>
            </a:r>
          </a:p>
          <a:p>
            <a:pPr algn="l" marL="615315" indent="-307657" lvl="1">
              <a:lnSpc>
                <a:spcPts val="81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Automation</a:t>
            </a:r>
          </a:p>
          <a:p>
            <a:pPr algn="l" marL="615315" indent="-307657" lvl="1">
              <a:lnSpc>
                <a:spcPts val="81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</a:t>
            </a:r>
          </a:p>
          <a:p>
            <a:pPr algn="l" marL="615315" indent="-307657" lvl="1">
              <a:lnSpc>
                <a:spcPts val="81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</a:t>
            </a:r>
          </a:p>
          <a:p>
            <a:pPr algn="l" marL="615315" indent="-307657" lvl="1">
              <a:lnSpc>
                <a:spcPts val="8159"/>
              </a:lnSpc>
              <a:buFont typeface="Arial"/>
              <a:buChar char="•"/>
            </a:pPr>
            <a:r>
              <a:rPr lang="en-US" b="true" sz="33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sz="33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Orchestra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274501" y="266690"/>
            <a:ext cx="16459200" cy="1341730"/>
            <a:chOff x="0" y="0"/>
            <a:chExt cx="21945600" cy="178897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788973"/>
            </a:xfrm>
            <a:custGeom>
              <a:avLst/>
              <a:gdLst/>
              <a:ahLst/>
              <a:cxnLst/>
              <a:rect r="r" b="b" t="t" l="l"/>
              <a:pathLst>
                <a:path h="1788973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788973"/>
                  </a:lnTo>
                  <a:lnTo>
                    <a:pt x="0" y="17889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134" r="0" b="-20291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1827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920"/>
                </a:lnSpc>
              </a:pPr>
              <a:r>
                <a:rPr lang="en-US" b="true" sz="41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On-Premise Agentic AI for Refineries &amp; PSUs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627576" y="1932809"/>
            <a:ext cx="8091809" cy="3477391"/>
            <a:chOff x="0" y="0"/>
            <a:chExt cx="2131176" cy="91585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1176" cy="915856"/>
            </a:xfrm>
            <a:custGeom>
              <a:avLst/>
              <a:gdLst/>
              <a:ahLst/>
              <a:cxnLst/>
              <a:rect r="r" b="b" t="t" l="l"/>
              <a:pathLst>
                <a:path h="915856" w="2131176">
                  <a:moveTo>
                    <a:pt x="48795" y="0"/>
                  </a:moveTo>
                  <a:lnTo>
                    <a:pt x="2082381" y="0"/>
                  </a:lnTo>
                  <a:cubicBezTo>
                    <a:pt x="2109330" y="0"/>
                    <a:pt x="2131176" y="21846"/>
                    <a:pt x="2131176" y="48795"/>
                  </a:cubicBezTo>
                  <a:lnTo>
                    <a:pt x="2131176" y="867061"/>
                  </a:lnTo>
                  <a:cubicBezTo>
                    <a:pt x="2131176" y="894010"/>
                    <a:pt x="2109330" y="915856"/>
                    <a:pt x="2082381" y="915856"/>
                  </a:cubicBezTo>
                  <a:lnTo>
                    <a:pt x="48795" y="915856"/>
                  </a:lnTo>
                  <a:cubicBezTo>
                    <a:pt x="21846" y="915856"/>
                    <a:pt x="0" y="894010"/>
                    <a:pt x="0" y="867061"/>
                  </a:cubicBezTo>
                  <a:lnTo>
                    <a:pt x="0" y="48795"/>
                  </a:lnTo>
                  <a:cubicBezTo>
                    <a:pt x="0" y="21846"/>
                    <a:pt x="21846" y="0"/>
                    <a:pt x="48795" y="0"/>
                  </a:cubicBez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2131176" cy="93490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27576" y="5584577"/>
            <a:ext cx="8091809" cy="3527177"/>
            <a:chOff x="0" y="0"/>
            <a:chExt cx="2131176" cy="9289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31176" cy="928968"/>
            </a:xfrm>
            <a:custGeom>
              <a:avLst/>
              <a:gdLst/>
              <a:ahLst/>
              <a:cxnLst/>
              <a:rect r="r" b="b" t="t" l="l"/>
              <a:pathLst>
                <a:path h="928968" w="2131176">
                  <a:moveTo>
                    <a:pt x="48795" y="0"/>
                  </a:moveTo>
                  <a:lnTo>
                    <a:pt x="2082381" y="0"/>
                  </a:lnTo>
                  <a:cubicBezTo>
                    <a:pt x="2109330" y="0"/>
                    <a:pt x="2131176" y="21846"/>
                    <a:pt x="2131176" y="48795"/>
                  </a:cubicBezTo>
                  <a:lnTo>
                    <a:pt x="2131176" y="880174"/>
                  </a:lnTo>
                  <a:cubicBezTo>
                    <a:pt x="2131176" y="907122"/>
                    <a:pt x="2109330" y="928968"/>
                    <a:pt x="2082381" y="928968"/>
                  </a:cubicBezTo>
                  <a:lnTo>
                    <a:pt x="48795" y="928968"/>
                  </a:lnTo>
                  <a:cubicBezTo>
                    <a:pt x="21846" y="928968"/>
                    <a:pt x="0" y="907122"/>
                    <a:pt x="0" y="880174"/>
                  </a:cubicBezTo>
                  <a:lnTo>
                    <a:pt x="0" y="48795"/>
                  </a:lnTo>
                  <a:cubicBezTo>
                    <a:pt x="0" y="21846"/>
                    <a:pt x="21846" y="0"/>
                    <a:pt x="48795" y="0"/>
                  </a:cubicBez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131176" cy="9480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75612" y="1785799"/>
            <a:ext cx="8668388" cy="7472501"/>
            <a:chOff x="0" y="0"/>
            <a:chExt cx="2283032" cy="196806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83032" cy="1968066"/>
            </a:xfrm>
            <a:custGeom>
              <a:avLst/>
              <a:gdLst/>
              <a:ahLst/>
              <a:cxnLst/>
              <a:rect r="r" b="b" t="t" l="l"/>
              <a:pathLst>
                <a:path h="1968066" w="2283032">
                  <a:moveTo>
                    <a:pt x="0" y="0"/>
                  </a:moveTo>
                  <a:lnTo>
                    <a:pt x="2283032" y="0"/>
                  </a:lnTo>
                  <a:lnTo>
                    <a:pt x="2283032" y="1968066"/>
                  </a:lnTo>
                  <a:lnTo>
                    <a:pt x="0" y="1968066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70C0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2283032" cy="19871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13331" y="3549143"/>
            <a:ext cx="3765177" cy="1594357"/>
            <a:chOff x="0" y="0"/>
            <a:chExt cx="991652" cy="41991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91652" cy="419913"/>
            </a:xfrm>
            <a:custGeom>
              <a:avLst/>
              <a:gdLst/>
              <a:ahLst/>
              <a:cxnLst/>
              <a:rect r="r" b="b" t="t" l="l"/>
              <a:pathLst>
                <a:path h="419913" w="991652">
                  <a:moveTo>
                    <a:pt x="0" y="0"/>
                  </a:moveTo>
                  <a:lnTo>
                    <a:pt x="991652" y="0"/>
                  </a:lnTo>
                  <a:lnTo>
                    <a:pt x="991652" y="419913"/>
                  </a:lnTo>
                  <a:lnTo>
                    <a:pt x="0" y="419913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991652" cy="438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5089712" y="3549143"/>
            <a:ext cx="3765177" cy="1594357"/>
            <a:chOff x="0" y="0"/>
            <a:chExt cx="991652" cy="41991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91652" cy="419913"/>
            </a:xfrm>
            <a:custGeom>
              <a:avLst/>
              <a:gdLst/>
              <a:ahLst/>
              <a:cxnLst/>
              <a:rect r="r" b="b" t="t" l="l"/>
              <a:pathLst>
                <a:path h="419913" w="991652">
                  <a:moveTo>
                    <a:pt x="0" y="0"/>
                  </a:moveTo>
                  <a:lnTo>
                    <a:pt x="991652" y="0"/>
                  </a:lnTo>
                  <a:lnTo>
                    <a:pt x="991652" y="419913"/>
                  </a:lnTo>
                  <a:lnTo>
                    <a:pt x="0" y="419913"/>
                  </a:lnTo>
                  <a:close/>
                </a:path>
              </a:pathLst>
            </a:custGeom>
            <a:solidFill>
              <a:srgbClr val="004AA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991652" cy="438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13331" y="5400675"/>
            <a:ext cx="3765177" cy="1594357"/>
            <a:chOff x="0" y="0"/>
            <a:chExt cx="991652" cy="41991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91652" cy="419913"/>
            </a:xfrm>
            <a:custGeom>
              <a:avLst/>
              <a:gdLst/>
              <a:ahLst/>
              <a:cxnLst/>
              <a:rect r="r" b="b" t="t" l="l"/>
              <a:pathLst>
                <a:path h="419913" w="991652">
                  <a:moveTo>
                    <a:pt x="0" y="0"/>
                  </a:moveTo>
                  <a:lnTo>
                    <a:pt x="991652" y="0"/>
                  </a:lnTo>
                  <a:lnTo>
                    <a:pt x="991652" y="419913"/>
                  </a:lnTo>
                  <a:lnTo>
                    <a:pt x="0" y="419913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991652" cy="438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3331" y="7309477"/>
            <a:ext cx="3765177" cy="1594357"/>
            <a:chOff x="0" y="0"/>
            <a:chExt cx="991652" cy="41991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91652" cy="419913"/>
            </a:xfrm>
            <a:custGeom>
              <a:avLst/>
              <a:gdLst/>
              <a:ahLst/>
              <a:cxnLst/>
              <a:rect r="r" b="b" t="t" l="l"/>
              <a:pathLst>
                <a:path h="419913" w="991652">
                  <a:moveTo>
                    <a:pt x="0" y="0"/>
                  </a:moveTo>
                  <a:lnTo>
                    <a:pt x="991652" y="0"/>
                  </a:lnTo>
                  <a:lnTo>
                    <a:pt x="991652" y="419913"/>
                  </a:lnTo>
                  <a:lnTo>
                    <a:pt x="0" y="419913"/>
                  </a:lnTo>
                  <a:close/>
                </a:path>
              </a:pathLst>
            </a:custGeom>
            <a:solidFill>
              <a:srgbClr val="A4C0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991652" cy="438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089712" y="5400675"/>
            <a:ext cx="3765177" cy="1594357"/>
            <a:chOff x="0" y="0"/>
            <a:chExt cx="991652" cy="41991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91652" cy="419913"/>
            </a:xfrm>
            <a:custGeom>
              <a:avLst/>
              <a:gdLst/>
              <a:ahLst/>
              <a:cxnLst/>
              <a:rect r="r" b="b" t="t" l="l"/>
              <a:pathLst>
                <a:path h="419913" w="991652">
                  <a:moveTo>
                    <a:pt x="0" y="0"/>
                  </a:moveTo>
                  <a:lnTo>
                    <a:pt x="991652" y="0"/>
                  </a:lnTo>
                  <a:lnTo>
                    <a:pt x="991652" y="419913"/>
                  </a:lnTo>
                  <a:lnTo>
                    <a:pt x="0" y="419913"/>
                  </a:lnTo>
                  <a:close/>
                </a:path>
              </a:pathLst>
            </a:custGeom>
            <a:solidFill>
              <a:srgbClr val="5170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19050"/>
              <a:ext cx="991652" cy="438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5089712" y="7309477"/>
            <a:ext cx="3765177" cy="1594357"/>
            <a:chOff x="0" y="0"/>
            <a:chExt cx="991652" cy="41991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91652" cy="419913"/>
            </a:xfrm>
            <a:custGeom>
              <a:avLst/>
              <a:gdLst/>
              <a:ahLst/>
              <a:cxnLst/>
              <a:rect r="r" b="b" t="t" l="l"/>
              <a:pathLst>
                <a:path h="419913" w="991652">
                  <a:moveTo>
                    <a:pt x="0" y="0"/>
                  </a:moveTo>
                  <a:lnTo>
                    <a:pt x="991652" y="0"/>
                  </a:lnTo>
                  <a:lnTo>
                    <a:pt x="991652" y="419913"/>
                  </a:lnTo>
                  <a:lnTo>
                    <a:pt x="0" y="419913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991652" cy="438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Freeform 42" id="42"/>
          <p:cNvSpPr/>
          <p:nvPr/>
        </p:nvSpPr>
        <p:spPr>
          <a:xfrm flipH="false" flipV="false" rot="0">
            <a:off x="581627" y="5209723"/>
            <a:ext cx="851929" cy="851929"/>
          </a:xfrm>
          <a:custGeom>
            <a:avLst/>
            <a:gdLst/>
            <a:ahLst/>
            <a:cxnLst/>
            <a:rect r="r" b="b" t="t" l="l"/>
            <a:pathLst>
              <a:path h="851929" w="851929">
                <a:moveTo>
                  <a:pt x="0" y="0"/>
                </a:moveTo>
                <a:lnTo>
                  <a:pt x="851928" y="0"/>
                </a:lnTo>
                <a:lnTo>
                  <a:pt x="851928" y="851928"/>
                </a:lnTo>
                <a:lnTo>
                  <a:pt x="0" y="8519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598840" y="3197125"/>
            <a:ext cx="764772" cy="764772"/>
          </a:xfrm>
          <a:custGeom>
            <a:avLst/>
            <a:gdLst/>
            <a:ahLst/>
            <a:cxnLst/>
            <a:rect r="r" b="b" t="t" l="l"/>
            <a:pathLst>
              <a:path h="764772" w="764772">
                <a:moveTo>
                  <a:pt x="0" y="0"/>
                </a:moveTo>
                <a:lnTo>
                  <a:pt x="764772" y="0"/>
                </a:lnTo>
                <a:lnTo>
                  <a:pt x="764772" y="764772"/>
                </a:lnTo>
                <a:lnTo>
                  <a:pt x="0" y="7647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4889076" y="5209723"/>
            <a:ext cx="875871" cy="875871"/>
          </a:xfrm>
          <a:custGeom>
            <a:avLst/>
            <a:gdLst/>
            <a:ahLst/>
            <a:cxnLst/>
            <a:rect r="r" b="b" t="t" l="l"/>
            <a:pathLst>
              <a:path h="875871" w="875871">
                <a:moveTo>
                  <a:pt x="0" y="0"/>
                </a:moveTo>
                <a:lnTo>
                  <a:pt x="875871" y="0"/>
                </a:lnTo>
                <a:lnTo>
                  <a:pt x="875871" y="875870"/>
                </a:lnTo>
                <a:lnTo>
                  <a:pt x="0" y="8758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4889076" y="3271376"/>
            <a:ext cx="717331" cy="717331"/>
          </a:xfrm>
          <a:custGeom>
            <a:avLst/>
            <a:gdLst/>
            <a:ahLst/>
            <a:cxnLst/>
            <a:rect r="r" b="b" t="t" l="l"/>
            <a:pathLst>
              <a:path h="717331" w="717331">
                <a:moveTo>
                  <a:pt x="0" y="0"/>
                </a:moveTo>
                <a:lnTo>
                  <a:pt x="717331" y="0"/>
                </a:lnTo>
                <a:lnTo>
                  <a:pt x="717331" y="717331"/>
                </a:lnTo>
                <a:lnTo>
                  <a:pt x="0" y="7173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598840" y="7047178"/>
            <a:ext cx="915251" cy="915251"/>
          </a:xfrm>
          <a:custGeom>
            <a:avLst/>
            <a:gdLst/>
            <a:ahLst/>
            <a:cxnLst/>
            <a:rect r="r" b="b" t="t" l="l"/>
            <a:pathLst>
              <a:path h="915251" w="915251">
                <a:moveTo>
                  <a:pt x="0" y="0"/>
                </a:moveTo>
                <a:lnTo>
                  <a:pt x="915252" y="0"/>
                </a:lnTo>
                <a:lnTo>
                  <a:pt x="915252" y="915251"/>
                </a:lnTo>
                <a:lnTo>
                  <a:pt x="0" y="91525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4889076" y="6995032"/>
            <a:ext cx="875871" cy="875871"/>
          </a:xfrm>
          <a:custGeom>
            <a:avLst/>
            <a:gdLst/>
            <a:ahLst/>
            <a:cxnLst/>
            <a:rect r="r" b="b" t="t" l="l"/>
            <a:pathLst>
              <a:path h="875871" w="875871">
                <a:moveTo>
                  <a:pt x="0" y="0"/>
                </a:moveTo>
                <a:lnTo>
                  <a:pt x="875871" y="0"/>
                </a:lnTo>
                <a:lnTo>
                  <a:pt x="875871" y="875871"/>
                </a:lnTo>
                <a:lnTo>
                  <a:pt x="0" y="8758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514092" y="3572892"/>
            <a:ext cx="3121756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 Generation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Excel files, PPTs, Word reports all in predefined templates.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627576" y="2075493"/>
            <a:ext cx="532421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RESOLUTION: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900880" y="5747326"/>
            <a:ext cx="734351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UNIQUE VALUE PROPOSITIONS (UVP):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771678" y="2747545"/>
            <a:ext cx="7487622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Confidentiality maintained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 regulated industries (at scale).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On-premise deployment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letting teams use AI despite a</a:t>
            </a: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cloud AI ban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 sensitive sectors.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Saves engineer time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by </a:t>
            </a: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auto-generating structured data from scans.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771678" y="6521824"/>
            <a:ext cx="7487622" cy="223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Extensible model: 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New models plug in via YAML, no rewrite needed.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Breaks the task into steps with </a:t>
            </a: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 models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on standby; automatically picks the right model at each step.</a:t>
            </a:r>
          </a:p>
          <a:p>
            <a:pPr algn="l" marL="453392" indent="-226696" lvl="1">
              <a:lnSpc>
                <a:spcPts val="2940"/>
              </a:lnSpc>
              <a:buFont typeface="Arial"/>
              <a:buChar char="•"/>
            </a:pPr>
            <a:r>
              <a:rPr lang="en-US" b="true" sz="21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Parallel document processing</a:t>
            </a: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across many documents at once.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557576" y="1865943"/>
            <a:ext cx="3064272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true">
                <a:solidFill>
                  <a:srgbClr val="1F497D"/>
                </a:solidFill>
                <a:latin typeface="Poppins Bold"/>
                <a:ea typeface="Poppins Bold"/>
                <a:cs typeface="Poppins Bold"/>
                <a:sym typeface="Poppins Bold"/>
              </a:rPr>
              <a:t>IDEA/SOLUTION</a:t>
            </a:r>
            <a:r>
              <a:rPr lang="en-US" b="true" sz="2999">
                <a:solidFill>
                  <a:srgbClr val="1F497D"/>
                </a:solidFill>
                <a:latin typeface="Poppins Bold"/>
                <a:ea typeface="Poppins Bold"/>
                <a:cs typeface="Poppins Bold"/>
                <a:sym typeface="Poppins Bold"/>
              </a:rPr>
              <a:t>: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514092" y="5451094"/>
            <a:ext cx="3121756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Coding Agents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Write code, executes, iterates inside network isolated Sandbox.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514092" y="7329296"/>
            <a:ext cx="3121756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Audit Logs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Prints every step of calculations and logs every model, tool call.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5592164" y="3572892"/>
            <a:ext cx="3090360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Multimodal Analysis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OCR+VLM for scanned PDFs, engineering drawings, handwriting.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764947" y="5424424"/>
            <a:ext cx="3090360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Agentic Core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Multi-step planning, automatic tool calling for complex workflows.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79272" y="2402740"/>
            <a:ext cx="7219608" cy="746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 self-hosted, air-gapped AI workbench for confidential industrial work.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5764528" y="7333226"/>
            <a:ext cx="3090360" cy="1489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Locally Hosted</a:t>
            </a:r>
          </a:p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Local knowledge base grounds answers in organisation’s SOPs.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59634" y="155403"/>
            <a:ext cx="1843360" cy="1495343"/>
            <a:chOff x="0" y="0"/>
            <a:chExt cx="2457814" cy="199379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457814" cy="1993791"/>
            </a:xfrm>
            <a:custGeom>
              <a:avLst/>
              <a:gdLst/>
              <a:ahLst/>
              <a:cxnLst/>
              <a:rect r="r" b="b" t="t" l="l"/>
              <a:pathLst>
                <a:path h="1993791" w="2457814">
                  <a:moveTo>
                    <a:pt x="0" y="0"/>
                  </a:moveTo>
                  <a:lnTo>
                    <a:pt x="2457814" y="0"/>
                  </a:lnTo>
                  <a:lnTo>
                    <a:pt x="2457814" y="1993791"/>
                  </a:lnTo>
                  <a:lnTo>
                    <a:pt x="0" y="1993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-2709" t="-9462" r="-1361" b="-18829"/>
              </a:stretch>
            </a:blip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720468" y="125417"/>
              <a:ext cx="1016877" cy="1151018"/>
            </a:xfrm>
            <a:custGeom>
              <a:avLst/>
              <a:gdLst/>
              <a:ahLst/>
              <a:cxnLst/>
              <a:rect r="r" b="b" t="t" l="l"/>
              <a:pathLst>
                <a:path h="1151018" w="1016877">
                  <a:moveTo>
                    <a:pt x="0" y="0"/>
                  </a:moveTo>
                  <a:lnTo>
                    <a:pt x="1016877" y="0"/>
                  </a:lnTo>
                  <a:lnTo>
                    <a:pt x="1016877" y="1151018"/>
                  </a:lnTo>
                  <a:lnTo>
                    <a:pt x="0" y="1151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 rot="0">
              <a:off x="0" y="1200235"/>
              <a:ext cx="2457814" cy="595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7"/>
                </a:lnSpc>
              </a:pPr>
              <a:r>
                <a:rPr lang="en-US" b="true" sz="2555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Orchestra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9634" y="155403"/>
            <a:ext cx="1843360" cy="1495343"/>
            <a:chOff x="0" y="0"/>
            <a:chExt cx="2457814" cy="19937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57814" cy="1993791"/>
            </a:xfrm>
            <a:custGeom>
              <a:avLst/>
              <a:gdLst/>
              <a:ahLst/>
              <a:cxnLst/>
              <a:rect r="r" b="b" t="t" l="l"/>
              <a:pathLst>
                <a:path h="1993791" w="2457814">
                  <a:moveTo>
                    <a:pt x="0" y="0"/>
                  </a:moveTo>
                  <a:lnTo>
                    <a:pt x="2457814" y="0"/>
                  </a:lnTo>
                  <a:lnTo>
                    <a:pt x="2457814" y="1993791"/>
                  </a:lnTo>
                  <a:lnTo>
                    <a:pt x="0" y="1993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09" t="-9462" r="-1361" b="-18829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720468" y="125417"/>
              <a:ext cx="1016877" cy="1151018"/>
            </a:xfrm>
            <a:custGeom>
              <a:avLst/>
              <a:gdLst/>
              <a:ahLst/>
              <a:cxnLst/>
              <a:rect r="r" b="b" t="t" l="l"/>
              <a:pathLst>
                <a:path h="1151018" w="1016877">
                  <a:moveTo>
                    <a:pt x="0" y="0"/>
                  </a:moveTo>
                  <a:lnTo>
                    <a:pt x="1016877" y="0"/>
                  </a:lnTo>
                  <a:lnTo>
                    <a:pt x="1016877" y="1151018"/>
                  </a:lnTo>
                  <a:lnTo>
                    <a:pt x="0" y="1151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0" y="1200235"/>
              <a:ext cx="2457814" cy="595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7"/>
                </a:lnSpc>
              </a:pPr>
              <a:r>
                <a:rPr lang="en-US" b="true" sz="2555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Orchestra</a:t>
              </a: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993215" y="1595752"/>
            <a:ext cx="8778979" cy="7801762"/>
          </a:xfrm>
          <a:custGeom>
            <a:avLst/>
            <a:gdLst/>
            <a:ahLst/>
            <a:cxnLst/>
            <a:rect r="r" b="b" t="t" l="l"/>
            <a:pathLst>
              <a:path h="7801762" w="8778979">
                <a:moveTo>
                  <a:pt x="0" y="0"/>
                </a:moveTo>
                <a:lnTo>
                  <a:pt x="8778979" y="0"/>
                </a:lnTo>
                <a:lnTo>
                  <a:pt x="8778979" y="7801761"/>
                </a:lnTo>
                <a:lnTo>
                  <a:pt x="0" y="78017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6170" r="-672" b="-11754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2399717" y="2040115"/>
            <a:ext cx="1061392" cy="1099233"/>
          </a:xfrm>
          <a:custGeom>
            <a:avLst/>
            <a:gdLst/>
            <a:ahLst/>
            <a:cxnLst/>
            <a:rect r="r" b="b" t="t" l="l"/>
            <a:pathLst>
              <a:path h="1099233" w="1061392">
                <a:moveTo>
                  <a:pt x="0" y="0"/>
                </a:moveTo>
                <a:lnTo>
                  <a:pt x="1061392" y="0"/>
                </a:lnTo>
                <a:lnTo>
                  <a:pt x="1061392" y="1099234"/>
                </a:lnTo>
                <a:lnTo>
                  <a:pt x="0" y="109923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7111" t="0" r="-3050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635769" y="2040115"/>
            <a:ext cx="822884" cy="1099233"/>
          </a:xfrm>
          <a:custGeom>
            <a:avLst/>
            <a:gdLst/>
            <a:ahLst/>
            <a:cxnLst/>
            <a:rect r="r" b="b" t="t" l="l"/>
            <a:pathLst>
              <a:path h="1099233" w="822884">
                <a:moveTo>
                  <a:pt x="0" y="0"/>
                </a:moveTo>
                <a:lnTo>
                  <a:pt x="822884" y="0"/>
                </a:lnTo>
                <a:lnTo>
                  <a:pt x="822884" y="1099234"/>
                </a:lnTo>
                <a:lnTo>
                  <a:pt x="0" y="109923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16150" t="-17133" r="-111019" b="-10924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4586273" y="2163934"/>
            <a:ext cx="2197878" cy="697012"/>
          </a:xfrm>
          <a:custGeom>
            <a:avLst/>
            <a:gdLst/>
            <a:ahLst/>
            <a:cxnLst/>
            <a:rect r="r" b="b" t="t" l="l"/>
            <a:pathLst>
              <a:path h="697012" w="2197878">
                <a:moveTo>
                  <a:pt x="0" y="0"/>
                </a:moveTo>
                <a:lnTo>
                  <a:pt x="2197878" y="0"/>
                </a:lnTo>
                <a:lnTo>
                  <a:pt x="2197878" y="697013"/>
                </a:lnTo>
                <a:lnTo>
                  <a:pt x="0" y="69701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3864015" y="3358384"/>
            <a:ext cx="1282969" cy="1282969"/>
          </a:xfrm>
          <a:custGeom>
            <a:avLst/>
            <a:gdLst/>
            <a:ahLst/>
            <a:cxnLst/>
            <a:rect r="r" b="b" t="t" l="l"/>
            <a:pathLst>
              <a:path h="1282969" w="1282969">
                <a:moveTo>
                  <a:pt x="0" y="0"/>
                </a:moveTo>
                <a:lnTo>
                  <a:pt x="1282969" y="0"/>
                </a:lnTo>
                <a:lnTo>
                  <a:pt x="1282969" y="1282969"/>
                </a:lnTo>
                <a:lnTo>
                  <a:pt x="0" y="128296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5270809" y="3341714"/>
            <a:ext cx="1299639" cy="1299639"/>
          </a:xfrm>
          <a:custGeom>
            <a:avLst/>
            <a:gdLst/>
            <a:ahLst/>
            <a:cxnLst/>
            <a:rect r="r" b="b" t="t" l="l"/>
            <a:pathLst>
              <a:path h="1299639" w="1299639">
                <a:moveTo>
                  <a:pt x="0" y="0"/>
                </a:moveTo>
                <a:lnTo>
                  <a:pt x="1299639" y="0"/>
                </a:lnTo>
                <a:lnTo>
                  <a:pt x="1299639" y="1299639"/>
                </a:lnTo>
                <a:lnTo>
                  <a:pt x="0" y="129963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710943" y="3565333"/>
            <a:ext cx="2088713" cy="796435"/>
          </a:xfrm>
          <a:custGeom>
            <a:avLst/>
            <a:gdLst/>
            <a:ahLst/>
            <a:cxnLst/>
            <a:rect r="r" b="b" t="t" l="l"/>
            <a:pathLst>
              <a:path h="796435" w="2088713">
                <a:moveTo>
                  <a:pt x="0" y="0"/>
                </a:moveTo>
                <a:lnTo>
                  <a:pt x="2088713" y="0"/>
                </a:lnTo>
                <a:lnTo>
                  <a:pt x="2088713" y="796435"/>
                </a:lnTo>
                <a:lnTo>
                  <a:pt x="0" y="79643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-73072" r="0" b="-89185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130760" y="6301548"/>
            <a:ext cx="1976533" cy="935765"/>
          </a:xfrm>
          <a:custGeom>
            <a:avLst/>
            <a:gdLst/>
            <a:ahLst/>
            <a:cxnLst/>
            <a:rect r="r" b="b" t="t" l="l"/>
            <a:pathLst>
              <a:path h="935765" w="1976533">
                <a:moveTo>
                  <a:pt x="0" y="0"/>
                </a:moveTo>
                <a:lnTo>
                  <a:pt x="1976533" y="0"/>
                </a:lnTo>
                <a:lnTo>
                  <a:pt x="1976533" y="935765"/>
                </a:lnTo>
                <a:lnTo>
                  <a:pt x="0" y="93576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494480" y="4860428"/>
            <a:ext cx="1504002" cy="1304671"/>
          </a:xfrm>
          <a:custGeom>
            <a:avLst/>
            <a:gdLst/>
            <a:ahLst/>
            <a:cxnLst/>
            <a:rect r="r" b="b" t="t" l="l"/>
            <a:pathLst>
              <a:path h="1304671" w="1504002">
                <a:moveTo>
                  <a:pt x="0" y="0"/>
                </a:moveTo>
                <a:lnTo>
                  <a:pt x="1504002" y="0"/>
                </a:lnTo>
                <a:lnTo>
                  <a:pt x="1504002" y="1304671"/>
                </a:lnTo>
                <a:lnTo>
                  <a:pt x="0" y="13046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12761" t="0" r="-11523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4998482" y="5153323"/>
            <a:ext cx="1797453" cy="671975"/>
          </a:xfrm>
          <a:custGeom>
            <a:avLst/>
            <a:gdLst/>
            <a:ahLst/>
            <a:cxnLst/>
            <a:rect r="r" b="b" t="t" l="l"/>
            <a:pathLst>
              <a:path h="671975" w="1797453">
                <a:moveTo>
                  <a:pt x="0" y="0"/>
                </a:moveTo>
                <a:lnTo>
                  <a:pt x="1797453" y="0"/>
                </a:lnTo>
                <a:lnTo>
                  <a:pt x="1797453" y="671975"/>
                </a:lnTo>
                <a:lnTo>
                  <a:pt x="0" y="67197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-14171" t="-50198" r="-13098" b="-55935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3003139" y="7690656"/>
            <a:ext cx="1262494" cy="1262494"/>
          </a:xfrm>
          <a:custGeom>
            <a:avLst/>
            <a:gdLst/>
            <a:ahLst/>
            <a:cxnLst/>
            <a:rect r="r" b="b" t="t" l="l"/>
            <a:pathLst>
              <a:path h="1262494" w="1262494">
                <a:moveTo>
                  <a:pt x="0" y="0"/>
                </a:moveTo>
                <a:lnTo>
                  <a:pt x="1262494" y="0"/>
                </a:lnTo>
                <a:lnTo>
                  <a:pt x="1262494" y="1262494"/>
                </a:lnTo>
                <a:lnTo>
                  <a:pt x="0" y="126249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359287" y="7810248"/>
            <a:ext cx="1278391" cy="1023309"/>
          </a:xfrm>
          <a:custGeom>
            <a:avLst/>
            <a:gdLst/>
            <a:ahLst/>
            <a:cxnLst/>
            <a:rect r="r" b="b" t="t" l="l"/>
            <a:pathLst>
              <a:path h="1023309" w="1278391">
                <a:moveTo>
                  <a:pt x="0" y="0"/>
                </a:moveTo>
                <a:lnTo>
                  <a:pt x="1278391" y="0"/>
                </a:lnTo>
                <a:lnTo>
                  <a:pt x="1278391" y="1023309"/>
                </a:lnTo>
                <a:lnTo>
                  <a:pt x="0" y="102330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-21411" t="0" r="-20893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9451574" y="477625"/>
            <a:ext cx="4653453" cy="72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ARCHITECTURE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319928" y="477625"/>
            <a:ext cx="5654113" cy="72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TECHNOLOGIES USED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51269" y="2198115"/>
            <a:ext cx="2779491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4AA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Interface: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51269" y="3479608"/>
            <a:ext cx="3385328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4AA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Backend Serving: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51269" y="4989944"/>
            <a:ext cx="304875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4AA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Model Runtime: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51269" y="6160988"/>
            <a:ext cx="2511897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4AA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Retrieval &amp; Persistence: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51269" y="7837388"/>
            <a:ext cx="2779491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004AAD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Execution &amp; Distribution: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945600" cy="2324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7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-465896" y="5185729"/>
            <a:ext cx="7506361" cy="4974326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 rot="5400000">
            <a:off x="14752498" y="1429113"/>
            <a:ext cx="2747901" cy="3468209"/>
            <a:chOff x="0" y="0"/>
            <a:chExt cx="812800" cy="102586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1025860"/>
            </a:xfrm>
            <a:custGeom>
              <a:avLst/>
              <a:gdLst/>
              <a:ahLst/>
              <a:cxnLst/>
              <a:rect r="r" b="b" t="t" l="l"/>
              <a:pathLst>
                <a:path h="102586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512930"/>
                  </a:lnTo>
                  <a:lnTo>
                    <a:pt x="609600" y="1025860"/>
                  </a:lnTo>
                  <a:lnTo>
                    <a:pt x="0" y="1025860"/>
                  </a:lnTo>
                  <a:lnTo>
                    <a:pt x="203200" y="512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77800" y="-19050"/>
              <a:ext cx="558800" cy="1044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5400000">
            <a:off x="14751049" y="3789679"/>
            <a:ext cx="2747901" cy="3468209"/>
            <a:chOff x="0" y="0"/>
            <a:chExt cx="812800" cy="10258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1025860"/>
            </a:xfrm>
            <a:custGeom>
              <a:avLst/>
              <a:gdLst/>
              <a:ahLst/>
              <a:cxnLst/>
              <a:rect r="r" b="b" t="t" l="l"/>
              <a:pathLst>
                <a:path h="102586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512930"/>
                  </a:lnTo>
                  <a:lnTo>
                    <a:pt x="609600" y="1025860"/>
                  </a:lnTo>
                  <a:lnTo>
                    <a:pt x="0" y="1025860"/>
                  </a:lnTo>
                  <a:lnTo>
                    <a:pt x="203200" y="512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CE1E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77800" y="-19050"/>
              <a:ext cx="558800" cy="1044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5400000">
            <a:off x="14751049" y="6150245"/>
            <a:ext cx="2747901" cy="3468209"/>
            <a:chOff x="0" y="0"/>
            <a:chExt cx="812800" cy="10258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1025860"/>
            </a:xfrm>
            <a:custGeom>
              <a:avLst/>
              <a:gdLst/>
              <a:ahLst/>
              <a:cxnLst/>
              <a:rect r="r" b="b" t="t" l="l"/>
              <a:pathLst>
                <a:path h="1025860" w="812800">
                  <a:moveTo>
                    <a:pt x="0" y="0"/>
                  </a:moveTo>
                  <a:lnTo>
                    <a:pt x="609600" y="0"/>
                  </a:lnTo>
                  <a:lnTo>
                    <a:pt x="812800" y="512930"/>
                  </a:lnTo>
                  <a:lnTo>
                    <a:pt x="609600" y="1025860"/>
                  </a:lnTo>
                  <a:lnTo>
                    <a:pt x="0" y="1025860"/>
                  </a:lnTo>
                  <a:lnTo>
                    <a:pt x="203200" y="5129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77800" y="-19050"/>
              <a:ext cx="558800" cy="1044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511672" y="1850771"/>
            <a:ext cx="5334855" cy="826903"/>
            <a:chOff x="0" y="0"/>
            <a:chExt cx="7113140" cy="110253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113140" cy="1102537"/>
            </a:xfrm>
            <a:custGeom>
              <a:avLst/>
              <a:gdLst/>
              <a:ahLst/>
              <a:cxnLst/>
              <a:rect r="r" b="b" t="t" l="l"/>
              <a:pathLst>
                <a:path h="1102537" w="7113140">
                  <a:moveTo>
                    <a:pt x="0" y="0"/>
                  </a:moveTo>
                  <a:lnTo>
                    <a:pt x="7113140" y="0"/>
                  </a:lnTo>
                  <a:lnTo>
                    <a:pt x="7113140" y="1102537"/>
                  </a:lnTo>
                  <a:lnTo>
                    <a:pt x="0" y="11025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 rot="0">
              <a:off x="689371" y="172514"/>
              <a:ext cx="5499100" cy="695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Feasibility &amp; Viability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448002" y="2878070"/>
            <a:ext cx="1394020" cy="1394020"/>
            <a:chOff x="0" y="0"/>
            <a:chExt cx="1858694" cy="1858694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858694" cy="1858694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32" id="32"/>
            <p:cNvSpPr txBox="true"/>
            <p:nvPr/>
          </p:nvSpPr>
          <p:spPr>
            <a:xfrm rot="0">
              <a:off x="143172" y="376897"/>
              <a:ext cx="1572350" cy="1085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4.5</a:t>
              </a:r>
              <a:r>
                <a:rPr lang="en-US" b="true" sz="18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mo</a:t>
              </a:r>
            </a:p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Payback period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897766" y="2873180"/>
            <a:ext cx="1394020" cy="1394020"/>
            <a:chOff x="0" y="0"/>
            <a:chExt cx="1858694" cy="1858694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858694" cy="1858694"/>
              <a:chOff x="0" y="0"/>
              <a:chExt cx="812800" cy="8128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37" id="37"/>
            <p:cNvSpPr txBox="true"/>
            <p:nvPr/>
          </p:nvSpPr>
          <p:spPr>
            <a:xfrm rot="0">
              <a:off x="87441" y="199097"/>
              <a:ext cx="1764983" cy="14414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₹1.25 cr</a:t>
              </a:r>
            </a:p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Value returned/ yr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348936" y="2873180"/>
            <a:ext cx="1394020" cy="1394020"/>
            <a:chOff x="0" y="0"/>
            <a:chExt cx="1858694" cy="1858694"/>
          </a:xfrm>
        </p:grpSpPr>
        <p:grpSp>
          <p:nvGrpSpPr>
            <p:cNvPr name="Group 39" id="39"/>
            <p:cNvGrpSpPr/>
            <p:nvPr/>
          </p:nvGrpSpPr>
          <p:grpSpPr>
            <a:xfrm rot="0">
              <a:off x="0" y="0"/>
              <a:ext cx="1858694" cy="1858694"/>
              <a:chOff x="0" y="0"/>
              <a:chExt cx="812800" cy="81280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42" id="42"/>
            <p:cNvSpPr txBox="true"/>
            <p:nvPr/>
          </p:nvSpPr>
          <p:spPr>
            <a:xfrm rot="0">
              <a:off x="82470" y="376897"/>
              <a:ext cx="1647833" cy="1085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757%</a:t>
              </a:r>
            </a:p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Four-year ROI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4797017" y="2873180"/>
            <a:ext cx="1394020" cy="1394020"/>
            <a:chOff x="0" y="0"/>
            <a:chExt cx="1858694" cy="1858694"/>
          </a:xfrm>
        </p:grpSpPr>
        <p:grpSp>
          <p:nvGrpSpPr>
            <p:cNvPr name="Group 44" id="44"/>
            <p:cNvGrpSpPr/>
            <p:nvPr/>
          </p:nvGrpSpPr>
          <p:grpSpPr>
            <a:xfrm rot="0">
              <a:off x="0" y="0"/>
              <a:ext cx="1858694" cy="1858694"/>
              <a:chOff x="0" y="0"/>
              <a:chExt cx="812800" cy="81280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4AAD"/>
              </a:solidFill>
            </p:spPr>
          </p:sp>
          <p:sp>
            <p:nvSpPr>
              <p:cNvPr name="TextBox 46" id="46"/>
              <p:cNvSpPr txBox="true"/>
              <p:nvPr/>
            </p:nvSpPr>
            <p:spPr>
              <a:xfrm>
                <a:off x="76200" y="57150"/>
                <a:ext cx="660400" cy="67945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sp>
          <p:nvSpPr>
            <p:cNvPr name="TextBox 47" id="47"/>
            <p:cNvSpPr txBox="true"/>
            <p:nvPr/>
          </p:nvSpPr>
          <p:spPr>
            <a:xfrm rot="0">
              <a:off x="0" y="376897"/>
              <a:ext cx="1773200" cy="10858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₹110</a:t>
              </a:r>
            </a:p>
            <a:p>
              <a:pPr algn="ctr">
                <a:lnSpc>
                  <a:spcPts val="216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Cost / hour returned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2089524" y="633727"/>
            <a:ext cx="4238882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2099" i="true">
                <a:solidFill>
                  <a:srgbClr val="000000"/>
                </a:solidFill>
                <a:latin typeface="Poppins Semi-Bold Italics"/>
                <a:ea typeface="Poppins Semi-Bold Italics"/>
                <a:cs typeface="Poppins Semi-Bold Italics"/>
                <a:sym typeface="Poppins Semi-Bold Italics"/>
              </a:rPr>
              <a:t>“</a:t>
            </a:r>
            <a:r>
              <a:rPr lang="en-US" b="true" sz="2099" i="true">
                <a:solidFill>
                  <a:srgbClr val="000000"/>
                </a:solidFill>
                <a:latin typeface="Poppins Semi-Bold Italics"/>
                <a:ea typeface="Poppins Semi-Bold Italics"/>
                <a:cs typeface="Poppins Semi-Bold Italics"/>
                <a:sym typeface="Poppins Semi-Bold Italics"/>
              </a:rPr>
              <a:t>The unit is not a token. </a:t>
            </a:r>
          </a:p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2099" i="true">
                <a:solidFill>
                  <a:srgbClr val="000000"/>
                </a:solidFill>
                <a:latin typeface="Poppins Semi-Bold Italics"/>
                <a:ea typeface="Poppins Semi-Bold Italics"/>
                <a:cs typeface="Poppins Semi-Bold Italics"/>
                <a:sym typeface="Poppins Semi-Bold Italics"/>
              </a:rPr>
              <a:t>It is an hour of engineer time.” </a:t>
            </a:r>
          </a:p>
          <a:p>
            <a:pPr algn="l">
              <a:lnSpc>
                <a:spcPts val="2519"/>
              </a:lnSpc>
              <a:spcBef>
                <a:spcPct val="0"/>
              </a:spcBef>
            </a:pPr>
          </a:p>
        </p:txBody>
      </p:sp>
      <p:sp>
        <p:nvSpPr>
          <p:cNvPr name="TextBox 49" id="49"/>
          <p:cNvSpPr txBox="true"/>
          <p:nvPr/>
        </p:nvSpPr>
        <p:spPr>
          <a:xfrm rot="0">
            <a:off x="573399" y="4437934"/>
            <a:ext cx="5211400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When </a:t>
            </a:r>
            <a:r>
              <a:rPr lang="en-US" sz="1800">
                <a:solidFill>
                  <a:srgbClr val="004AAD"/>
                </a:solidFill>
                <a:latin typeface="Poppins"/>
                <a:ea typeface="Poppins"/>
                <a:cs typeface="Poppins"/>
                <a:sym typeface="Poppins"/>
              </a:rPr>
              <a:t>built on a single H100 80 GB server holding four models resident, serving fifty named users across process engineering, inspection, projects and materials.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515500" y="2591807"/>
            <a:ext cx="3224794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On-premise LLMs are proven in banking &amp; defence, while our edge is intelligent multi-model orchestration.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515500" y="4998023"/>
            <a:ext cx="3224794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 </a:t>
            </a: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per-seat licence. </a:t>
            </a:r>
          </a:p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No per-token billing. </a:t>
            </a:r>
          </a:p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The cost is flat regardless of how heavily it is used.</a:t>
            </a:r>
          </a:p>
          <a:p>
            <a:pPr algn="ctr">
              <a:lnSpc>
                <a:spcPts val="2160"/>
              </a:lnSpc>
            </a:pPr>
          </a:p>
        </p:txBody>
      </p:sp>
      <p:sp>
        <p:nvSpPr>
          <p:cNvPr name="TextBox 52" id="52"/>
          <p:cNvSpPr txBox="true"/>
          <p:nvPr/>
        </p:nvSpPr>
        <p:spPr>
          <a:xfrm rot="0">
            <a:off x="14698847" y="7354934"/>
            <a:ext cx="2858100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</a:t>
            </a:r>
            <a:r>
              <a:rPr lang="en-US" b="true" sz="18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ll ingested content is treated as untrusted data, and requires human approval before file writes.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7645527" y="485775"/>
            <a:ext cx="102155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Risks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0928442" y="485775"/>
            <a:ext cx="1699716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Strategy</a:t>
            </a:r>
          </a:p>
        </p:txBody>
      </p:sp>
      <p:graphicFrame>
        <p:nvGraphicFramePr>
          <p:cNvPr name="Table 55" id="55"/>
          <p:cNvGraphicFramePr>
            <a:graphicFrameLocks noGrp="true"/>
          </p:cNvGraphicFramePr>
          <p:nvPr/>
        </p:nvGraphicFramePr>
        <p:xfrm>
          <a:off x="6414935" y="359321"/>
          <a:ext cx="7704667" cy="8982075"/>
        </p:xfrm>
        <a:graphic>
          <a:graphicData uri="http://schemas.openxmlformats.org/drawingml/2006/table">
            <a:tbl>
              <a:tblPr/>
              <a:tblGrid>
                <a:gridCol w="3055393"/>
                <a:gridCol w="2906183"/>
                <a:gridCol w="1743090"/>
              </a:tblGrid>
              <a:tr h="9887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b="true" sz="21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Risks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b="true" sz="2100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Strategy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4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FFFFF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Status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</a:tr>
              <a:tr h="19358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Small on-premise open weight models less reliable at  open ended planning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Fixed roster of 7 agents with the planner emitting one validated plan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</a:tr>
              <a:tr h="193588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Even "offline" tools can leak data via hidden telemetry or license check calls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Sovereignty demonstrated live where logs show zero external calls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9FF"/>
                    </a:solidFill>
                  </a:tcPr>
                </a:tc>
              </a:tr>
              <a:tr h="22793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Sovereign on-premise hosting is commoditizing fast, with risk of no lasting competitive moat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Shift the moat entirely to the orchestration layer above the model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CFF"/>
                    </a:solidFill>
                  </a:tcPr>
                </a:tc>
              </a:tr>
              <a:tr h="184221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Needs sustained usage to justify GPU hardware cost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9"/>
                        </a:lnSpc>
                        <a:defRPr/>
                      </a:pPr>
                      <a:r>
                        <a:rPr lang="en-US" sz="16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Pilot in one department first, then scale hardware tier once proven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9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1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E9FF"/>
                    </a:solidFill>
                  </a:tcPr>
                </a:tc>
              </a:tr>
            </a:tbl>
          </a:graphicData>
        </a:graphic>
      </p:graphicFrame>
      <p:sp>
        <p:nvSpPr>
          <p:cNvPr name="Freeform 56" id="56"/>
          <p:cNvSpPr/>
          <p:nvPr/>
        </p:nvSpPr>
        <p:spPr>
          <a:xfrm flipH="false" flipV="false" rot="0">
            <a:off x="12954685" y="1850771"/>
            <a:ext cx="655467" cy="655467"/>
          </a:xfrm>
          <a:custGeom>
            <a:avLst/>
            <a:gdLst/>
            <a:ahLst/>
            <a:cxnLst/>
            <a:rect r="r" b="b" t="t" l="l"/>
            <a:pathLst>
              <a:path h="655467" w="655467">
                <a:moveTo>
                  <a:pt x="0" y="0"/>
                </a:moveTo>
                <a:lnTo>
                  <a:pt x="655467" y="0"/>
                </a:lnTo>
                <a:lnTo>
                  <a:pt x="655467" y="655467"/>
                </a:lnTo>
                <a:lnTo>
                  <a:pt x="0" y="6554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12954685" y="3944357"/>
            <a:ext cx="655467" cy="655467"/>
          </a:xfrm>
          <a:custGeom>
            <a:avLst/>
            <a:gdLst/>
            <a:ahLst/>
            <a:cxnLst/>
            <a:rect r="r" b="b" t="t" l="l"/>
            <a:pathLst>
              <a:path h="655467" w="655467">
                <a:moveTo>
                  <a:pt x="0" y="0"/>
                </a:moveTo>
                <a:lnTo>
                  <a:pt x="655467" y="0"/>
                </a:lnTo>
                <a:lnTo>
                  <a:pt x="655467" y="655467"/>
                </a:lnTo>
                <a:lnTo>
                  <a:pt x="0" y="6554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12954685" y="6038099"/>
            <a:ext cx="604160" cy="604160"/>
          </a:xfrm>
          <a:custGeom>
            <a:avLst/>
            <a:gdLst/>
            <a:ahLst/>
            <a:cxnLst/>
            <a:rect r="r" b="b" t="t" l="l"/>
            <a:pathLst>
              <a:path h="604160" w="604160">
                <a:moveTo>
                  <a:pt x="0" y="0"/>
                </a:moveTo>
                <a:lnTo>
                  <a:pt x="604160" y="0"/>
                </a:lnTo>
                <a:lnTo>
                  <a:pt x="604160" y="604160"/>
                </a:lnTo>
                <a:lnTo>
                  <a:pt x="0" y="6041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2954685" y="8103324"/>
            <a:ext cx="604160" cy="604160"/>
          </a:xfrm>
          <a:custGeom>
            <a:avLst/>
            <a:gdLst/>
            <a:ahLst/>
            <a:cxnLst/>
            <a:rect r="r" b="b" t="t" l="l"/>
            <a:pathLst>
              <a:path h="604160" w="604160">
                <a:moveTo>
                  <a:pt x="0" y="0"/>
                </a:moveTo>
                <a:lnTo>
                  <a:pt x="604160" y="0"/>
                </a:lnTo>
                <a:lnTo>
                  <a:pt x="604160" y="604160"/>
                </a:lnTo>
                <a:lnTo>
                  <a:pt x="0" y="60416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59634" y="155403"/>
            <a:ext cx="1843360" cy="1495343"/>
            <a:chOff x="0" y="0"/>
            <a:chExt cx="2457814" cy="199379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457814" cy="1993791"/>
            </a:xfrm>
            <a:custGeom>
              <a:avLst/>
              <a:gdLst/>
              <a:ahLst/>
              <a:cxnLst/>
              <a:rect r="r" b="b" t="t" l="l"/>
              <a:pathLst>
                <a:path h="1993791" w="2457814">
                  <a:moveTo>
                    <a:pt x="0" y="0"/>
                  </a:moveTo>
                  <a:lnTo>
                    <a:pt x="2457814" y="0"/>
                  </a:lnTo>
                  <a:lnTo>
                    <a:pt x="2457814" y="1993791"/>
                  </a:lnTo>
                  <a:lnTo>
                    <a:pt x="0" y="1993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2709" t="-9462" r="-1361" b="-18829"/>
              </a:stretch>
            </a:blip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720468" y="125417"/>
              <a:ext cx="1016877" cy="1151018"/>
            </a:xfrm>
            <a:custGeom>
              <a:avLst/>
              <a:gdLst/>
              <a:ahLst/>
              <a:cxnLst/>
              <a:rect r="r" b="b" t="t" l="l"/>
              <a:pathLst>
                <a:path h="1151018" w="1016877">
                  <a:moveTo>
                    <a:pt x="0" y="0"/>
                  </a:moveTo>
                  <a:lnTo>
                    <a:pt x="1016877" y="0"/>
                  </a:lnTo>
                  <a:lnTo>
                    <a:pt x="1016877" y="1151018"/>
                  </a:lnTo>
                  <a:lnTo>
                    <a:pt x="0" y="1151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 rot="0">
              <a:off x="0" y="1200235"/>
              <a:ext cx="2457814" cy="595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7"/>
                </a:lnSpc>
              </a:pPr>
              <a:r>
                <a:rPr lang="en-US" b="true" sz="2555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Orchestra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565" r="0" b="-339565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-5400000">
            <a:off x="3685631" y="-1120760"/>
            <a:ext cx="2153093" cy="8573132"/>
            <a:chOff x="0" y="0"/>
            <a:chExt cx="381000" cy="151705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1000" cy="1517056"/>
            </a:xfrm>
            <a:custGeom>
              <a:avLst/>
              <a:gdLst/>
              <a:ahLst/>
              <a:cxnLst/>
              <a:rect r="r" b="b" t="t" l="l"/>
              <a:pathLst>
                <a:path h="1517056" w="381000">
                  <a:moveTo>
                    <a:pt x="381000" y="61782"/>
                  </a:moveTo>
                  <a:lnTo>
                    <a:pt x="381000" y="1517056"/>
                  </a:lnTo>
                  <a:lnTo>
                    <a:pt x="190500" y="1417996"/>
                  </a:lnTo>
                  <a:lnTo>
                    <a:pt x="0" y="1517056"/>
                  </a:lnTo>
                  <a:lnTo>
                    <a:pt x="0" y="61782"/>
                  </a:lnTo>
                  <a:cubicBezTo>
                    <a:pt x="0" y="22860"/>
                    <a:pt x="22860" y="0"/>
                    <a:pt x="49530" y="0"/>
                  </a:cubicBezTo>
                  <a:lnTo>
                    <a:pt x="331470" y="0"/>
                  </a:lnTo>
                  <a:cubicBezTo>
                    <a:pt x="358140" y="0"/>
                    <a:pt x="381000" y="21590"/>
                    <a:pt x="381000" y="66115"/>
                  </a:cubicBezTo>
                  <a:close/>
                </a:path>
              </a:pathLst>
            </a:custGeom>
            <a:solidFill>
              <a:srgbClr val="0CC0DF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381000" cy="14370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75612" y="4511057"/>
            <a:ext cx="8573132" cy="2153093"/>
            <a:chOff x="0" y="0"/>
            <a:chExt cx="11430843" cy="2870791"/>
          </a:xfrm>
        </p:grpSpPr>
        <p:grpSp>
          <p:nvGrpSpPr>
            <p:cNvPr name="Group 16" id="16"/>
            <p:cNvGrpSpPr/>
            <p:nvPr/>
          </p:nvGrpSpPr>
          <p:grpSpPr>
            <a:xfrm rot="-5400000">
              <a:off x="4280026" y="-4280026"/>
              <a:ext cx="2870791" cy="11430843"/>
              <a:chOff x="0" y="0"/>
              <a:chExt cx="381000" cy="1517056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381000" cy="1517056"/>
              </a:xfrm>
              <a:custGeom>
                <a:avLst/>
                <a:gdLst/>
                <a:ahLst/>
                <a:cxnLst/>
                <a:rect r="r" b="b" t="t" l="l"/>
                <a:pathLst>
                  <a:path h="1517056" w="381000">
                    <a:moveTo>
                      <a:pt x="381000" y="61782"/>
                    </a:moveTo>
                    <a:lnTo>
                      <a:pt x="381000" y="1517056"/>
                    </a:lnTo>
                    <a:lnTo>
                      <a:pt x="190500" y="1417996"/>
                    </a:lnTo>
                    <a:lnTo>
                      <a:pt x="0" y="1517056"/>
                    </a:lnTo>
                    <a:lnTo>
                      <a:pt x="0" y="61782"/>
                    </a:lnTo>
                    <a:cubicBezTo>
                      <a:pt x="0" y="22860"/>
                      <a:pt x="22860" y="0"/>
                      <a:pt x="49530" y="0"/>
                    </a:cubicBezTo>
                    <a:lnTo>
                      <a:pt x="331470" y="0"/>
                    </a:lnTo>
                    <a:cubicBezTo>
                      <a:pt x="358140" y="0"/>
                      <a:pt x="381000" y="21590"/>
                      <a:pt x="381000" y="66115"/>
                    </a:cubicBezTo>
                    <a:close/>
                  </a:path>
                </a:pathLst>
              </a:custGeom>
              <a:solidFill>
                <a:srgbClr val="5CE1E6"/>
              </a:solidFill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19050"/>
                <a:ext cx="381000" cy="14370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19" id="19"/>
            <p:cNvGrpSpPr/>
            <p:nvPr/>
          </p:nvGrpSpPr>
          <p:grpSpPr>
            <a:xfrm rot="0">
              <a:off x="236001" y="228910"/>
              <a:ext cx="2527256" cy="2362480"/>
              <a:chOff x="0" y="0"/>
              <a:chExt cx="499211" cy="466663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499211" cy="466663"/>
              </a:xfrm>
              <a:custGeom>
                <a:avLst/>
                <a:gdLst/>
                <a:ahLst/>
                <a:cxnLst/>
                <a:rect r="r" b="b" t="t" l="l"/>
                <a:pathLst>
                  <a:path h="466663" w="499211">
                    <a:moveTo>
                      <a:pt x="110281" y="0"/>
                    </a:moveTo>
                    <a:lnTo>
                      <a:pt x="388930" y="0"/>
                    </a:lnTo>
                    <a:cubicBezTo>
                      <a:pt x="418178" y="0"/>
                      <a:pt x="446229" y="11619"/>
                      <a:pt x="466910" y="32301"/>
                    </a:cubicBezTo>
                    <a:cubicBezTo>
                      <a:pt x="487592" y="52982"/>
                      <a:pt x="499211" y="81033"/>
                      <a:pt x="499211" y="110281"/>
                    </a:cubicBezTo>
                    <a:lnTo>
                      <a:pt x="499211" y="356381"/>
                    </a:lnTo>
                    <a:cubicBezTo>
                      <a:pt x="499211" y="385630"/>
                      <a:pt x="487592" y="413680"/>
                      <a:pt x="466910" y="434362"/>
                    </a:cubicBezTo>
                    <a:cubicBezTo>
                      <a:pt x="446229" y="455044"/>
                      <a:pt x="418178" y="466663"/>
                      <a:pt x="388930" y="466663"/>
                    </a:cubicBezTo>
                    <a:lnTo>
                      <a:pt x="110281" y="466663"/>
                    </a:lnTo>
                    <a:cubicBezTo>
                      <a:pt x="81033" y="466663"/>
                      <a:pt x="52982" y="455044"/>
                      <a:pt x="32301" y="434362"/>
                    </a:cubicBezTo>
                    <a:cubicBezTo>
                      <a:pt x="11619" y="413680"/>
                      <a:pt x="0" y="385630"/>
                      <a:pt x="0" y="356381"/>
                    </a:cubicBezTo>
                    <a:lnTo>
                      <a:pt x="0" y="110281"/>
                    </a:lnTo>
                    <a:cubicBezTo>
                      <a:pt x="0" y="81033"/>
                      <a:pt x="11619" y="52982"/>
                      <a:pt x="32301" y="32301"/>
                    </a:cubicBezTo>
                    <a:cubicBezTo>
                      <a:pt x="52982" y="11619"/>
                      <a:pt x="81033" y="0"/>
                      <a:pt x="110281" y="0"/>
                    </a:cubicBezTo>
                    <a:close/>
                  </a:path>
                </a:pathLst>
              </a:custGeom>
              <a:solidFill>
                <a:srgbClr val="5CE1E6"/>
              </a:solidFill>
            </p:spPr>
          </p:sp>
          <p:sp>
            <p:nvSpPr>
              <p:cNvPr name="TextBox 21" id="21"/>
              <p:cNvSpPr txBox="true"/>
              <p:nvPr/>
            </p:nvSpPr>
            <p:spPr>
              <a:xfrm>
                <a:off x="0" y="-19050"/>
                <a:ext cx="499211" cy="485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</p:grpSp>
      <p:grpSp>
        <p:nvGrpSpPr>
          <p:cNvPr name="Group 22" id="22"/>
          <p:cNvGrpSpPr/>
          <p:nvPr/>
        </p:nvGrpSpPr>
        <p:grpSpPr>
          <a:xfrm rot="0">
            <a:off x="475612" y="6932854"/>
            <a:ext cx="8573132" cy="2153093"/>
            <a:chOff x="0" y="0"/>
            <a:chExt cx="11430843" cy="2870791"/>
          </a:xfrm>
        </p:grpSpPr>
        <p:grpSp>
          <p:nvGrpSpPr>
            <p:cNvPr name="Group 23" id="23"/>
            <p:cNvGrpSpPr/>
            <p:nvPr/>
          </p:nvGrpSpPr>
          <p:grpSpPr>
            <a:xfrm rot="-5400000">
              <a:off x="4280026" y="-4280026"/>
              <a:ext cx="2870791" cy="11430843"/>
              <a:chOff x="0" y="0"/>
              <a:chExt cx="381000" cy="1517056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381000" cy="1517056"/>
              </a:xfrm>
              <a:custGeom>
                <a:avLst/>
                <a:gdLst/>
                <a:ahLst/>
                <a:cxnLst/>
                <a:rect r="r" b="b" t="t" l="l"/>
                <a:pathLst>
                  <a:path h="1517056" w="381000">
                    <a:moveTo>
                      <a:pt x="381000" y="61782"/>
                    </a:moveTo>
                    <a:lnTo>
                      <a:pt x="381000" y="1517056"/>
                    </a:lnTo>
                    <a:lnTo>
                      <a:pt x="190500" y="1417996"/>
                    </a:lnTo>
                    <a:lnTo>
                      <a:pt x="0" y="1517056"/>
                    </a:lnTo>
                    <a:lnTo>
                      <a:pt x="0" y="61782"/>
                    </a:lnTo>
                    <a:cubicBezTo>
                      <a:pt x="0" y="22860"/>
                      <a:pt x="22860" y="0"/>
                      <a:pt x="49530" y="0"/>
                    </a:cubicBezTo>
                    <a:lnTo>
                      <a:pt x="331470" y="0"/>
                    </a:lnTo>
                    <a:cubicBezTo>
                      <a:pt x="358140" y="0"/>
                      <a:pt x="381000" y="21590"/>
                      <a:pt x="381000" y="66115"/>
                    </a:cubicBez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19050"/>
                <a:ext cx="381000" cy="143704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236001" y="228910"/>
              <a:ext cx="2527256" cy="2362480"/>
              <a:chOff x="0" y="0"/>
              <a:chExt cx="499211" cy="466663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99211" cy="466663"/>
              </a:xfrm>
              <a:custGeom>
                <a:avLst/>
                <a:gdLst/>
                <a:ahLst/>
                <a:cxnLst/>
                <a:rect r="r" b="b" t="t" l="l"/>
                <a:pathLst>
                  <a:path h="466663" w="499211">
                    <a:moveTo>
                      <a:pt x="110281" y="0"/>
                    </a:moveTo>
                    <a:lnTo>
                      <a:pt x="388930" y="0"/>
                    </a:lnTo>
                    <a:cubicBezTo>
                      <a:pt x="418178" y="0"/>
                      <a:pt x="446229" y="11619"/>
                      <a:pt x="466910" y="32301"/>
                    </a:cubicBezTo>
                    <a:cubicBezTo>
                      <a:pt x="487592" y="52982"/>
                      <a:pt x="499211" y="81033"/>
                      <a:pt x="499211" y="110281"/>
                    </a:cubicBezTo>
                    <a:lnTo>
                      <a:pt x="499211" y="356381"/>
                    </a:lnTo>
                    <a:cubicBezTo>
                      <a:pt x="499211" y="385630"/>
                      <a:pt x="487592" y="413680"/>
                      <a:pt x="466910" y="434362"/>
                    </a:cubicBezTo>
                    <a:cubicBezTo>
                      <a:pt x="446229" y="455044"/>
                      <a:pt x="418178" y="466663"/>
                      <a:pt x="388930" y="466663"/>
                    </a:cubicBezTo>
                    <a:lnTo>
                      <a:pt x="110281" y="466663"/>
                    </a:lnTo>
                    <a:cubicBezTo>
                      <a:pt x="81033" y="466663"/>
                      <a:pt x="52982" y="455044"/>
                      <a:pt x="32301" y="434362"/>
                    </a:cubicBezTo>
                    <a:cubicBezTo>
                      <a:pt x="11619" y="413680"/>
                      <a:pt x="0" y="385630"/>
                      <a:pt x="0" y="356381"/>
                    </a:cubicBezTo>
                    <a:lnTo>
                      <a:pt x="0" y="110281"/>
                    </a:lnTo>
                    <a:cubicBezTo>
                      <a:pt x="0" y="81033"/>
                      <a:pt x="11619" y="52982"/>
                      <a:pt x="32301" y="32301"/>
                    </a:cubicBezTo>
                    <a:cubicBezTo>
                      <a:pt x="52982" y="11619"/>
                      <a:pt x="81033" y="0"/>
                      <a:pt x="110281" y="0"/>
                    </a:cubicBezTo>
                    <a:close/>
                  </a:path>
                </a:pathLst>
              </a:custGeom>
              <a:solidFill>
                <a:srgbClr val="38B6FF"/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19050"/>
                <a:ext cx="499211" cy="48571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</p:grpSp>
      <p:sp>
        <p:nvSpPr>
          <p:cNvPr name="Freeform 29" id="29"/>
          <p:cNvSpPr/>
          <p:nvPr/>
        </p:nvSpPr>
        <p:spPr>
          <a:xfrm flipH="false" flipV="false" rot="0">
            <a:off x="743649" y="2341881"/>
            <a:ext cx="1647850" cy="1647850"/>
          </a:xfrm>
          <a:custGeom>
            <a:avLst/>
            <a:gdLst/>
            <a:ahLst/>
            <a:cxnLst/>
            <a:rect r="r" b="b" t="t" l="l"/>
            <a:pathLst>
              <a:path h="1647850" w="1647850">
                <a:moveTo>
                  <a:pt x="0" y="0"/>
                </a:moveTo>
                <a:lnTo>
                  <a:pt x="1647850" y="0"/>
                </a:lnTo>
                <a:lnTo>
                  <a:pt x="1647850" y="1647850"/>
                </a:lnTo>
                <a:lnTo>
                  <a:pt x="0" y="16478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828677" y="4848706"/>
            <a:ext cx="1477794" cy="1477794"/>
          </a:xfrm>
          <a:custGeom>
            <a:avLst/>
            <a:gdLst/>
            <a:ahLst/>
            <a:cxnLst/>
            <a:rect r="r" b="b" t="t" l="l"/>
            <a:pathLst>
              <a:path h="1477794" w="1477794">
                <a:moveTo>
                  <a:pt x="0" y="0"/>
                </a:moveTo>
                <a:lnTo>
                  <a:pt x="1477794" y="0"/>
                </a:lnTo>
                <a:lnTo>
                  <a:pt x="1477794" y="1477794"/>
                </a:lnTo>
                <a:lnTo>
                  <a:pt x="0" y="14777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9998704" y="3852573"/>
            <a:ext cx="2222333" cy="5233374"/>
            <a:chOff x="0" y="0"/>
            <a:chExt cx="2963111" cy="6977832"/>
          </a:xfrm>
        </p:grpSpPr>
        <p:grpSp>
          <p:nvGrpSpPr>
            <p:cNvPr name="Group 32" id="32"/>
            <p:cNvGrpSpPr/>
            <p:nvPr/>
          </p:nvGrpSpPr>
          <p:grpSpPr>
            <a:xfrm rot="5400000">
              <a:off x="-1520962" y="2659676"/>
              <a:ext cx="6005035" cy="2631278"/>
              <a:chOff x="0" y="0"/>
              <a:chExt cx="1054318" cy="46198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054318" cy="461980"/>
              </a:xfrm>
              <a:custGeom>
                <a:avLst/>
                <a:gdLst/>
                <a:ahLst/>
                <a:cxnLst/>
                <a:rect r="r" b="b" t="t" l="l"/>
                <a:pathLst>
                  <a:path h="461980" w="1054318">
                    <a:moveTo>
                      <a:pt x="851118" y="0"/>
                    </a:moveTo>
                    <a:cubicBezTo>
                      <a:pt x="963342" y="0"/>
                      <a:pt x="1054318" y="103418"/>
                      <a:pt x="1054318" y="230990"/>
                    </a:cubicBezTo>
                    <a:cubicBezTo>
                      <a:pt x="1054318" y="358562"/>
                      <a:pt x="963342" y="461980"/>
                      <a:pt x="851118" y="461980"/>
                    </a:cubicBezTo>
                    <a:lnTo>
                      <a:pt x="203200" y="461980"/>
                    </a:lnTo>
                    <a:cubicBezTo>
                      <a:pt x="90976" y="461980"/>
                      <a:pt x="0" y="358562"/>
                      <a:pt x="0" y="230990"/>
                    </a:cubicBezTo>
                    <a:cubicBezTo>
                      <a:pt x="0" y="103418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F497D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19050"/>
                <a:ext cx="1054318" cy="4810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35" id="35"/>
            <p:cNvGrpSpPr/>
            <p:nvPr/>
          </p:nvGrpSpPr>
          <p:grpSpPr>
            <a:xfrm rot="0">
              <a:off x="0" y="0"/>
              <a:ext cx="2963111" cy="2772230"/>
              <a:chOff x="0" y="0"/>
              <a:chExt cx="812800" cy="76044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812800" cy="760440"/>
              </a:xfrm>
              <a:custGeom>
                <a:avLst/>
                <a:gdLst/>
                <a:ahLst/>
                <a:cxnLst/>
                <a:rect r="r" b="b" t="t" l="l"/>
                <a:pathLst>
                  <a:path h="760440" w="812800">
                    <a:moveTo>
                      <a:pt x="406400" y="0"/>
                    </a:moveTo>
                    <a:cubicBezTo>
                      <a:pt x="181951" y="0"/>
                      <a:pt x="0" y="170230"/>
                      <a:pt x="0" y="380220"/>
                    </a:cubicBezTo>
                    <a:cubicBezTo>
                      <a:pt x="0" y="590210"/>
                      <a:pt x="181951" y="760440"/>
                      <a:pt x="406400" y="760440"/>
                    </a:cubicBezTo>
                    <a:cubicBezTo>
                      <a:pt x="630849" y="760440"/>
                      <a:pt x="812800" y="590210"/>
                      <a:pt x="812800" y="380220"/>
                    </a:cubicBezTo>
                    <a:cubicBezTo>
                      <a:pt x="812800" y="17023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37" id="37"/>
              <p:cNvSpPr txBox="true"/>
              <p:nvPr/>
            </p:nvSpPr>
            <p:spPr>
              <a:xfrm>
                <a:off x="76200" y="52241"/>
                <a:ext cx="660400" cy="6369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38" id="38"/>
            <p:cNvGrpSpPr/>
            <p:nvPr/>
          </p:nvGrpSpPr>
          <p:grpSpPr>
            <a:xfrm rot="0">
              <a:off x="160258" y="95462"/>
              <a:ext cx="2642596" cy="2489009"/>
              <a:chOff x="0" y="0"/>
              <a:chExt cx="812800" cy="76556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812800" cy="765560"/>
              </a:xfrm>
              <a:custGeom>
                <a:avLst/>
                <a:gdLst/>
                <a:ahLst/>
                <a:cxnLst/>
                <a:rect r="r" b="b" t="t" l="l"/>
                <a:pathLst>
                  <a:path h="765560" w="812800">
                    <a:moveTo>
                      <a:pt x="406400" y="0"/>
                    </a:moveTo>
                    <a:cubicBezTo>
                      <a:pt x="181951" y="0"/>
                      <a:pt x="0" y="171376"/>
                      <a:pt x="0" y="382780"/>
                    </a:cubicBezTo>
                    <a:cubicBezTo>
                      <a:pt x="0" y="594184"/>
                      <a:pt x="181951" y="765560"/>
                      <a:pt x="406400" y="765560"/>
                    </a:cubicBezTo>
                    <a:cubicBezTo>
                      <a:pt x="630849" y="765560"/>
                      <a:pt x="812800" y="594184"/>
                      <a:pt x="812800" y="382780"/>
                    </a:cubicBezTo>
                    <a:cubicBezTo>
                      <a:pt x="812800" y="17137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497D"/>
              </a:solidFill>
            </p:spPr>
          </p:sp>
          <p:sp>
            <p:nvSpPr>
              <p:cNvPr name="TextBox 40" id="40"/>
              <p:cNvSpPr txBox="true"/>
              <p:nvPr/>
            </p:nvSpPr>
            <p:spPr>
              <a:xfrm>
                <a:off x="76200" y="52721"/>
                <a:ext cx="660400" cy="641068"/>
              </a:xfrm>
              <a:prstGeom prst="rect">
                <a:avLst/>
              </a:prstGeom>
            </p:spPr>
            <p:txBody>
              <a:bodyPr anchor="ctr" rtlCol="false" tIns="32625" lIns="32625" bIns="32625" rIns="32625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41" id="41"/>
            <p:cNvGrpSpPr/>
            <p:nvPr/>
          </p:nvGrpSpPr>
          <p:grpSpPr>
            <a:xfrm rot="0">
              <a:off x="479776" y="396410"/>
              <a:ext cx="2003559" cy="1887113"/>
              <a:chOff x="0" y="0"/>
              <a:chExt cx="812800" cy="76556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812800" cy="765560"/>
              </a:xfrm>
              <a:custGeom>
                <a:avLst/>
                <a:gdLst/>
                <a:ahLst/>
                <a:cxnLst/>
                <a:rect r="r" b="b" t="t" l="l"/>
                <a:pathLst>
                  <a:path h="765560" w="812800">
                    <a:moveTo>
                      <a:pt x="406400" y="0"/>
                    </a:moveTo>
                    <a:cubicBezTo>
                      <a:pt x="181951" y="0"/>
                      <a:pt x="0" y="171376"/>
                      <a:pt x="0" y="382780"/>
                    </a:cubicBezTo>
                    <a:cubicBezTo>
                      <a:pt x="0" y="594184"/>
                      <a:pt x="181951" y="765560"/>
                      <a:pt x="406400" y="765560"/>
                    </a:cubicBezTo>
                    <a:cubicBezTo>
                      <a:pt x="630849" y="765560"/>
                      <a:pt x="812800" y="594184"/>
                      <a:pt x="812800" y="382780"/>
                    </a:cubicBezTo>
                    <a:cubicBezTo>
                      <a:pt x="812800" y="17137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76200" y="52721"/>
                <a:ext cx="660400" cy="641068"/>
              </a:xfrm>
              <a:prstGeom prst="rect">
                <a:avLst/>
              </a:prstGeom>
            </p:spPr>
            <p:txBody>
              <a:bodyPr anchor="ctr" rtlCol="false" tIns="32625" lIns="32625" bIns="32625" rIns="32625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</p:grpSp>
      <p:sp>
        <p:nvSpPr>
          <p:cNvPr name="Freeform 44" id="44"/>
          <p:cNvSpPr/>
          <p:nvPr/>
        </p:nvSpPr>
        <p:spPr>
          <a:xfrm flipH="false" flipV="false" rot="0">
            <a:off x="799240" y="7255785"/>
            <a:ext cx="1507230" cy="1507230"/>
          </a:xfrm>
          <a:custGeom>
            <a:avLst/>
            <a:gdLst/>
            <a:ahLst/>
            <a:cxnLst/>
            <a:rect r="r" b="b" t="t" l="l"/>
            <a:pathLst>
              <a:path h="1507230" w="1507230">
                <a:moveTo>
                  <a:pt x="0" y="0"/>
                </a:moveTo>
                <a:lnTo>
                  <a:pt x="1507231" y="0"/>
                </a:lnTo>
                <a:lnTo>
                  <a:pt x="1507231" y="1507231"/>
                </a:lnTo>
                <a:lnTo>
                  <a:pt x="0" y="150723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0578191" y="4317027"/>
            <a:ext cx="1063358" cy="1063358"/>
          </a:xfrm>
          <a:custGeom>
            <a:avLst/>
            <a:gdLst/>
            <a:ahLst/>
            <a:cxnLst/>
            <a:rect r="r" b="b" t="t" l="l"/>
            <a:pathLst>
              <a:path h="1063358" w="1063358">
                <a:moveTo>
                  <a:pt x="0" y="0"/>
                </a:moveTo>
                <a:lnTo>
                  <a:pt x="1063358" y="0"/>
                </a:lnTo>
                <a:lnTo>
                  <a:pt x="1063358" y="1063358"/>
                </a:lnTo>
                <a:lnTo>
                  <a:pt x="0" y="10633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2611562" y="3852573"/>
            <a:ext cx="2222333" cy="5233374"/>
            <a:chOff x="0" y="0"/>
            <a:chExt cx="2963111" cy="6977832"/>
          </a:xfrm>
        </p:grpSpPr>
        <p:grpSp>
          <p:nvGrpSpPr>
            <p:cNvPr name="Group 47" id="47"/>
            <p:cNvGrpSpPr/>
            <p:nvPr/>
          </p:nvGrpSpPr>
          <p:grpSpPr>
            <a:xfrm rot="5400000">
              <a:off x="-1520962" y="2659676"/>
              <a:ext cx="6005035" cy="2631278"/>
              <a:chOff x="0" y="0"/>
              <a:chExt cx="1054318" cy="461980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0" y="0"/>
                <a:ext cx="1054318" cy="461980"/>
              </a:xfrm>
              <a:custGeom>
                <a:avLst/>
                <a:gdLst/>
                <a:ahLst/>
                <a:cxnLst/>
                <a:rect r="r" b="b" t="t" l="l"/>
                <a:pathLst>
                  <a:path h="461980" w="1054318">
                    <a:moveTo>
                      <a:pt x="851118" y="0"/>
                    </a:moveTo>
                    <a:cubicBezTo>
                      <a:pt x="963342" y="0"/>
                      <a:pt x="1054318" y="103418"/>
                      <a:pt x="1054318" y="230990"/>
                    </a:cubicBezTo>
                    <a:cubicBezTo>
                      <a:pt x="1054318" y="358562"/>
                      <a:pt x="963342" y="461980"/>
                      <a:pt x="851118" y="461980"/>
                    </a:cubicBezTo>
                    <a:lnTo>
                      <a:pt x="203200" y="461980"/>
                    </a:lnTo>
                    <a:cubicBezTo>
                      <a:pt x="90976" y="461980"/>
                      <a:pt x="0" y="358562"/>
                      <a:pt x="0" y="230990"/>
                    </a:cubicBezTo>
                    <a:cubicBezTo>
                      <a:pt x="0" y="103418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1F497D"/>
              </a:solidFill>
            </p:spPr>
          </p:sp>
          <p:sp>
            <p:nvSpPr>
              <p:cNvPr name="TextBox 49" id="49"/>
              <p:cNvSpPr txBox="true"/>
              <p:nvPr/>
            </p:nvSpPr>
            <p:spPr>
              <a:xfrm>
                <a:off x="0" y="-19050"/>
                <a:ext cx="1054318" cy="48103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50" id="50"/>
            <p:cNvGrpSpPr/>
            <p:nvPr/>
          </p:nvGrpSpPr>
          <p:grpSpPr>
            <a:xfrm rot="0">
              <a:off x="0" y="0"/>
              <a:ext cx="2963111" cy="2772230"/>
              <a:chOff x="0" y="0"/>
              <a:chExt cx="812800" cy="76044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0" y="0"/>
                <a:ext cx="812800" cy="760440"/>
              </a:xfrm>
              <a:custGeom>
                <a:avLst/>
                <a:gdLst/>
                <a:ahLst/>
                <a:cxnLst/>
                <a:rect r="r" b="b" t="t" l="l"/>
                <a:pathLst>
                  <a:path h="760440" w="812800">
                    <a:moveTo>
                      <a:pt x="406400" y="0"/>
                    </a:moveTo>
                    <a:cubicBezTo>
                      <a:pt x="181951" y="0"/>
                      <a:pt x="0" y="170230"/>
                      <a:pt x="0" y="380220"/>
                    </a:cubicBezTo>
                    <a:cubicBezTo>
                      <a:pt x="0" y="590210"/>
                      <a:pt x="181951" y="760440"/>
                      <a:pt x="406400" y="760440"/>
                    </a:cubicBezTo>
                    <a:cubicBezTo>
                      <a:pt x="630849" y="760440"/>
                      <a:pt x="812800" y="590210"/>
                      <a:pt x="812800" y="380220"/>
                    </a:cubicBezTo>
                    <a:cubicBezTo>
                      <a:pt x="812800" y="170230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2" id="52"/>
              <p:cNvSpPr txBox="true"/>
              <p:nvPr/>
            </p:nvSpPr>
            <p:spPr>
              <a:xfrm>
                <a:off x="76200" y="52241"/>
                <a:ext cx="660400" cy="63690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53" id="53"/>
            <p:cNvGrpSpPr/>
            <p:nvPr/>
          </p:nvGrpSpPr>
          <p:grpSpPr>
            <a:xfrm rot="0">
              <a:off x="160258" y="95462"/>
              <a:ext cx="2642596" cy="2489009"/>
              <a:chOff x="0" y="0"/>
              <a:chExt cx="812800" cy="76556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812800" cy="765560"/>
              </a:xfrm>
              <a:custGeom>
                <a:avLst/>
                <a:gdLst/>
                <a:ahLst/>
                <a:cxnLst/>
                <a:rect r="r" b="b" t="t" l="l"/>
                <a:pathLst>
                  <a:path h="765560" w="812800">
                    <a:moveTo>
                      <a:pt x="406400" y="0"/>
                    </a:moveTo>
                    <a:cubicBezTo>
                      <a:pt x="181951" y="0"/>
                      <a:pt x="0" y="171376"/>
                      <a:pt x="0" y="382780"/>
                    </a:cubicBezTo>
                    <a:cubicBezTo>
                      <a:pt x="0" y="594184"/>
                      <a:pt x="181951" y="765560"/>
                      <a:pt x="406400" y="765560"/>
                    </a:cubicBezTo>
                    <a:cubicBezTo>
                      <a:pt x="630849" y="765560"/>
                      <a:pt x="812800" y="594184"/>
                      <a:pt x="812800" y="382780"/>
                    </a:cubicBezTo>
                    <a:cubicBezTo>
                      <a:pt x="812800" y="17137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497D"/>
              </a:solid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76200" y="52721"/>
                <a:ext cx="660400" cy="641068"/>
              </a:xfrm>
              <a:prstGeom prst="rect">
                <a:avLst/>
              </a:prstGeom>
            </p:spPr>
            <p:txBody>
              <a:bodyPr anchor="ctr" rtlCol="false" tIns="32625" lIns="32625" bIns="32625" rIns="32625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479776" y="396410"/>
              <a:ext cx="2003559" cy="1887113"/>
              <a:chOff x="0" y="0"/>
              <a:chExt cx="812800" cy="76556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812800" cy="765560"/>
              </a:xfrm>
              <a:custGeom>
                <a:avLst/>
                <a:gdLst/>
                <a:ahLst/>
                <a:cxnLst/>
                <a:rect r="r" b="b" t="t" l="l"/>
                <a:pathLst>
                  <a:path h="765560" w="812800">
                    <a:moveTo>
                      <a:pt x="406400" y="0"/>
                    </a:moveTo>
                    <a:cubicBezTo>
                      <a:pt x="181951" y="0"/>
                      <a:pt x="0" y="171376"/>
                      <a:pt x="0" y="382780"/>
                    </a:cubicBezTo>
                    <a:cubicBezTo>
                      <a:pt x="0" y="594184"/>
                      <a:pt x="181951" y="765560"/>
                      <a:pt x="406400" y="765560"/>
                    </a:cubicBezTo>
                    <a:cubicBezTo>
                      <a:pt x="630849" y="765560"/>
                      <a:pt x="812800" y="594184"/>
                      <a:pt x="812800" y="382780"/>
                    </a:cubicBezTo>
                    <a:cubicBezTo>
                      <a:pt x="812800" y="17137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76200" y="52721"/>
                <a:ext cx="660400" cy="641068"/>
              </a:xfrm>
              <a:prstGeom prst="rect">
                <a:avLst/>
              </a:prstGeom>
            </p:spPr>
            <p:txBody>
              <a:bodyPr anchor="ctr" rtlCol="false" tIns="32625" lIns="32625" bIns="32625" rIns="32625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</p:grpSp>
      <p:grpSp>
        <p:nvGrpSpPr>
          <p:cNvPr name="Group 59" id="59"/>
          <p:cNvGrpSpPr/>
          <p:nvPr/>
        </p:nvGrpSpPr>
        <p:grpSpPr>
          <a:xfrm rot="5400000">
            <a:off x="14083698" y="5847329"/>
            <a:ext cx="4503776" cy="1973458"/>
            <a:chOff x="0" y="0"/>
            <a:chExt cx="1054318" cy="4619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54318" cy="461980"/>
            </a:xfrm>
            <a:custGeom>
              <a:avLst/>
              <a:gdLst/>
              <a:ahLst/>
              <a:cxnLst/>
              <a:rect r="r" b="b" t="t" l="l"/>
              <a:pathLst>
                <a:path h="461980" w="1054318">
                  <a:moveTo>
                    <a:pt x="851118" y="0"/>
                  </a:moveTo>
                  <a:cubicBezTo>
                    <a:pt x="963342" y="0"/>
                    <a:pt x="1054318" y="103418"/>
                    <a:pt x="1054318" y="230990"/>
                  </a:cubicBezTo>
                  <a:cubicBezTo>
                    <a:pt x="1054318" y="358562"/>
                    <a:pt x="963342" y="461980"/>
                    <a:pt x="851118" y="461980"/>
                  </a:cubicBezTo>
                  <a:lnTo>
                    <a:pt x="203200" y="461980"/>
                  </a:lnTo>
                  <a:cubicBezTo>
                    <a:pt x="90976" y="461980"/>
                    <a:pt x="0" y="358562"/>
                    <a:pt x="0" y="230990"/>
                  </a:cubicBezTo>
                  <a:cubicBezTo>
                    <a:pt x="0" y="10341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1054318" cy="4810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5224420" y="3852573"/>
            <a:ext cx="2222333" cy="2079172"/>
            <a:chOff x="0" y="0"/>
            <a:chExt cx="812800" cy="760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12800" cy="760440"/>
            </a:xfrm>
            <a:custGeom>
              <a:avLst/>
              <a:gdLst/>
              <a:ahLst/>
              <a:cxnLst/>
              <a:rect r="r" b="b" t="t" l="l"/>
              <a:pathLst>
                <a:path h="760440" w="812800">
                  <a:moveTo>
                    <a:pt x="406400" y="0"/>
                  </a:moveTo>
                  <a:cubicBezTo>
                    <a:pt x="181951" y="0"/>
                    <a:pt x="0" y="170230"/>
                    <a:pt x="0" y="380220"/>
                  </a:cubicBezTo>
                  <a:cubicBezTo>
                    <a:pt x="0" y="590210"/>
                    <a:pt x="181951" y="760440"/>
                    <a:pt x="406400" y="760440"/>
                  </a:cubicBezTo>
                  <a:cubicBezTo>
                    <a:pt x="630849" y="760440"/>
                    <a:pt x="812800" y="590210"/>
                    <a:pt x="812800" y="380220"/>
                  </a:cubicBezTo>
                  <a:cubicBezTo>
                    <a:pt x="812800" y="170230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4" id="64"/>
            <p:cNvSpPr txBox="true"/>
            <p:nvPr/>
          </p:nvSpPr>
          <p:spPr>
            <a:xfrm>
              <a:off x="76200" y="52241"/>
              <a:ext cx="660400" cy="636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5344613" y="3924170"/>
            <a:ext cx="1981947" cy="1866757"/>
            <a:chOff x="0" y="0"/>
            <a:chExt cx="2642596" cy="2489009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0" y="0"/>
              <a:ext cx="2642596" cy="2489009"/>
              <a:chOff x="0" y="0"/>
              <a:chExt cx="812800" cy="76556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812800" cy="765560"/>
              </a:xfrm>
              <a:custGeom>
                <a:avLst/>
                <a:gdLst/>
                <a:ahLst/>
                <a:cxnLst/>
                <a:rect r="r" b="b" t="t" l="l"/>
                <a:pathLst>
                  <a:path h="765560" w="812800">
                    <a:moveTo>
                      <a:pt x="406400" y="0"/>
                    </a:moveTo>
                    <a:cubicBezTo>
                      <a:pt x="181951" y="0"/>
                      <a:pt x="0" y="171376"/>
                      <a:pt x="0" y="382780"/>
                    </a:cubicBezTo>
                    <a:cubicBezTo>
                      <a:pt x="0" y="594184"/>
                      <a:pt x="181951" y="765560"/>
                      <a:pt x="406400" y="765560"/>
                    </a:cubicBezTo>
                    <a:cubicBezTo>
                      <a:pt x="630849" y="765560"/>
                      <a:pt x="812800" y="594184"/>
                      <a:pt x="812800" y="382780"/>
                    </a:cubicBezTo>
                    <a:cubicBezTo>
                      <a:pt x="812800" y="17137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497D"/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76200" y="52721"/>
                <a:ext cx="660400" cy="641068"/>
              </a:xfrm>
              <a:prstGeom prst="rect">
                <a:avLst/>
              </a:prstGeom>
            </p:spPr>
            <p:txBody>
              <a:bodyPr anchor="ctr" rtlCol="false" tIns="32625" lIns="32625" bIns="32625" rIns="32625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0">
              <a:off x="319518" y="300948"/>
              <a:ext cx="2003559" cy="1887113"/>
              <a:chOff x="0" y="0"/>
              <a:chExt cx="812800" cy="765560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812800" cy="765560"/>
              </a:xfrm>
              <a:custGeom>
                <a:avLst/>
                <a:gdLst/>
                <a:ahLst/>
                <a:cxnLst/>
                <a:rect r="r" b="b" t="t" l="l"/>
                <a:pathLst>
                  <a:path h="765560" w="812800">
                    <a:moveTo>
                      <a:pt x="406400" y="0"/>
                    </a:moveTo>
                    <a:cubicBezTo>
                      <a:pt x="181951" y="0"/>
                      <a:pt x="0" y="171376"/>
                      <a:pt x="0" y="382780"/>
                    </a:cubicBezTo>
                    <a:cubicBezTo>
                      <a:pt x="0" y="594184"/>
                      <a:pt x="181951" y="765560"/>
                      <a:pt x="406400" y="765560"/>
                    </a:cubicBezTo>
                    <a:cubicBezTo>
                      <a:pt x="630849" y="765560"/>
                      <a:pt x="812800" y="594184"/>
                      <a:pt x="812800" y="382780"/>
                    </a:cubicBezTo>
                    <a:cubicBezTo>
                      <a:pt x="812800" y="17137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76200" y="52721"/>
                <a:ext cx="660400" cy="641068"/>
              </a:xfrm>
              <a:prstGeom prst="rect">
                <a:avLst/>
              </a:prstGeom>
            </p:spPr>
            <p:txBody>
              <a:bodyPr anchor="ctr" rtlCol="false" tIns="32625" lIns="32625" bIns="32625" rIns="32625"/>
              <a:lstStyle/>
              <a:p>
                <a:pPr algn="ctr">
                  <a:lnSpc>
                    <a:spcPts val="2160"/>
                  </a:lnSpc>
                </a:pPr>
              </a:p>
            </p:txBody>
          </p:sp>
        </p:grpSp>
      </p:grpSp>
      <p:sp>
        <p:nvSpPr>
          <p:cNvPr name="Freeform 72" id="72"/>
          <p:cNvSpPr/>
          <p:nvPr/>
        </p:nvSpPr>
        <p:spPr>
          <a:xfrm flipH="false" flipV="false" rot="0">
            <a:off x="13174813" y="4284555"/>
            <a:ext cx="1095831" cy="1095831"/>
          </a:xfrm>
          <a:custGeom>
            <a:avLst/>
            <a:gdLst/>
            <a:ahLst/>
            <a:cxnLst/>
            <a:rect r="r" b="b" t="t" l="l"/>
            <a:pathLst>
              <a:path h="1095831" w="1095831">
                <a:moveTo>
                  <a:pt x="0" y="0"/>
                </a:moveTo>
                <a:lnTo>
                  <a:pt x="1095831" y="0"/>
                </a:lnTo>
                <a:lnTo>
                  <a:pt x="1095831" y="1095830"/>
                </a:lnTo>
                <a:lnTo>
                  <a:pt x="0" y="109583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grpSp>
        <p:nvGrpSpPr>
          <p:cNvPr name="Group 73" id="73"/>
          <p:cNvGrpSpPr/>
          <p:nvPr/>
        </p:nvGrpSpPr>
        <p:grpSpPr>
          <a:xfrm rot="0">
            <a:off x="12490038" y="799000"/>
            <a:ext cx="2343857" cy="2207633"/>
            <a:chOff x="0" y="0"/>
            <a:chExt cx="3125143" cy="2943510"/>
          </a:xfrm>
        </p:grpSpPr>
        <p:grpSp>
          <p:nvGrpSpPr>
            <p:cNvPr name="Group 74" id="74"/>
            <p:cNvGrpSpPr/>
            <p:nvPr/>
          </p:nvGrpSpPr>
          <p:grpSpPr>
            <a:xfrm rot="0">
              <a:off x="0" y="0"/>
              <a:ext cx="3125143" cy="2943510"/>
              <a:chOff x="0" y="0"/>
              <a:chExt cx="812800" cy="765560"/>
            </a:xfrm>
          </p:grpSpPr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812800" cy="765560"/>
              </a:xfrm>
              <a:custGeom>
                <a:avLst/>
                <a:gdLst/>
                <a:ahLst/>
                <a:cxnLst/>
                <a:rect r="r" b="b" t="t" l="l"/>
                <a:pathLst>
                  <a:path h="765560" w="812800">
                    <a:moveTo>
                      <a:pt x="406400" y="0"/>
                    </a:moveTo>
                    <a:cubicBezTo>
                      <a:pt x="181951" y="0"/>
                      <a:pt x="0" y="171376"/>
                      <a:pt x="0" y="382780"/>
                    </a:cubicBezTo>
                    <a:cubicBezTo>
                      <a:pt x="0" y="594184"/>
                      <a:pt x="181951" y="765560"/>
                      <a:pt x="406400" y="765560"/>
                    </a:cubicBezTo>
                    <a:cubicBezTo>
                      <a:pt x="630849" y="765560"/>
                      <a:pt x="812800" y="594184"/>
                      <a:pt x="812800" y="382780"/>
                    </a:cubicBezTo>
                    <a:cubicBezTo>
                      <a:pt x="812800" y="17137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F497D"/>
              </a:solidFill>
            </p:spPr>
          </p:sp>
          <p:sp>
            <p:nvSpPr>
              <p:cNvPr name="TextBox 76" id="76"/>
              <p:cNvSpPr txBox="true"/>
              <p:nvPr/>
            </p:nvSpPr>
            <p:spPr>
              <a:xfrm>
                <a:off x="76200" y="52721"/>
                <a:ext cx="660400" cy="641068"/>
              </a:xfrm>
              <a:prstGeom prst="rect">
                <a:avLst/>
              </a:prstGeom>
            </p:spPr>
            <p:txBody>
              <a:bodyPr anchor="ctr" rtlCol="false" tIns="32625" lIns="32625" bIns="32625" rIns="32625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  <p:grpSp>
          <p:nvGrpSpPr>
            <p:cNvPr name="Group 77" id="77"/>
            <p:cNvGrpSpPr/>
            <p:nvPr/>
          </p:nvGrpSpPr>
          <p:grpSpPr>
            <a:xfrm rot="0">
              <a:off x="377864" y="355902"/>
              <a:ext cx="2369416" cy="2231706"/>
              <a:chOff x="0" y="0"/>
              <a:chExt cx="812800" cy="765560"/>
            </a:xfrm>
          </p:grpSpPr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812800" cy="765560"/>
              </a:xfrm>
              <a:custGeom>
                <a:avLst/>
                <a:gdLst/>
                <a:ahLst/>
                <a:cxnLst/>
                <a:rect r="r" b="b" t="t" l="l"/>
                <a:pathLst>
                  <a:path h="765560" w="812800">
                    <a:moveTo>
                      <a:pt x="406400" y="0"/>
                    </a:moveTo>
                    <a:cubicBezTo>
                      <a:pt x="181951" y="0"/>
                      <a:pt x="0" y="171376"/>
                      <a:pt x="0" y="382780"/>
                    </a:cubicBezTo>
                    <a:cubicBezTo>
                      <a:pt x="0" y="594184"/>
                      <a:pt x="181951" y="765560"/>
                      <a:pt x="406400" y="765560"/>
                    </a:cubicBezTo>
                    <a:cubicBezTo>
                      <a:pt x="630849" y="765560"/>
                      <a:pt x="812800" y="594184"/>
                      <a:pt x="812800" y="382780"/>
                    </a:cubicBezTo>
                    <a:cubicBezTo>
                      <a:pt x="812800" y="171376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79" id="79"/>
              <p:cNvSpPr txBox="true"/>
              <p:nvPr/>
            </p:nvSpPr>
            <p:spPr>
              <a:xfrm>
                <a:off x="76200" y="52721"/>
                <a:ext cx="660400" cy="641068"/>
              </a:xfrm>
              <a:prstGeom prst="rect">
                <a:avLst/>
              </a:prstGeom>
            </p:spPr>
            <p:txBody>
              <a:bodyPr anchor="ctr" rtlCol="false" tIns="32625" lIns="32625" bIns="32625" rIns="32625"/>
              <a:lstStyle/>
              <a:p>
                <a:pPr algn="ctr">
                  <a:lnSpc>
                    <a:spcPts val="2159"/>
                  </a:lnSpc>
                </a:pPr>
              </a:p>
            </p:txBody>
          </p:sp>
        </p:grpSp>
      </p:grpSp>
      <p:sp>
        <p:nvSpPr>
          <p:cNvPr name="Freeform 80" id="80"/>
          <p:cNvSpPr/>
          <p:nvPr/>
        </p:nvSpPr>
        <p:spPr>
          <a:xfrm flipH="false" flipV="false" rot="-1860157">
            <a:off x="11379632" y="2558393"/>
            <a:ext cx="1959323" cy="1636034"/>
          </a:xfrm>
          <a:custGeom>
            <a:avLst/>
            <a:gdLst/>
            <a:ahLst/>
            <a:cxnLst/>
            <a:rect r="r" b="b" t="t" l="l"/>
            <a:pathLst>
              <a:path h="1636034" w="1959323">
                <a:moveTo>
                  <a:pt x="0" y="0"/>
                </a:moveTo>
                <a:lnTo>
                  <a:pt x="1959323" y="0"/>
                </a:lnTo>
                <a:lnTo>
                  <a:pt x="1959323" y="1636035"/>
                </a:lnTo>
                <a:lnTo>
                  <a:pt x="0" y="163603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1" id="81"/>
          <p:cNvSpPr/>
          <p:nvPr/>
        </p:nvSpPr>
        <p:spPr>
          <a:xfrm flipH="false" flipV="false" rot="0">
            <a:off x="15869943" y="4361134"/>
            <a:ext cx="975145" cy="975145"/>
          </a:xfrm>
          <a:custGeom>
            <a:avLst/>
            <a:gdLst/>
            <a:ahLst/>
            <a:cxnLst/>
            <a:rect r="r" b="b" t="t" l="l"/>
            <a:pathLst>
              <a:path h="975145" w="975145">
                <a:moveTo>
                  <a:pt x="0" y="0"/>
                </a:moveTo>
                <a:lnTo>
                  <a:pt x="975146" y="0"/>
                </a:lnTo>
                <a:lnTo>
                  <a:pt x="975146" y="975145"/>
                </a:lnTo>
                <a:lnTo>
                  <a:pt x="0" y="97514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82" id="82"/>
          <p:cNvSpPr/>
          <p:nvPr/>
        </p:nvSpPr>
        <p:spPr>
          <a:xfrm flipH="true" flipV="false" rot="2589971">
            <a:off x="13154420" y="2981794"/>
            <a:ext cx="1136617" cy="949075"/>
          </a:xfrm>
          <a:custGeom>
            <a:avLst/>
            <a:gdLst/>
            <a:ahLst/>
            <a:cxnLst/>
            <a:rect r="r" b="b" t="t" l="l"/>
            <a:pathLst>
              <a:path h="949075" w="1136617">
                <a:moveTo>
                  <a:pt x="1136617" y="0"/>
                </a:moveTo>
                <a:lnTo>
                  <a:pt x="0" y="0"/>
                </a:lnTo>
                <a:lnTo>
                  <a:pt x="0" y="949075"/>
                </a:lnTo>
                <a:lnTo>
                  <a:pt x="1136617" y="949075"/>
                </a:lnTo>
                <a:lnTo>
                  <a:pt x="1136617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3" id="83"/>
          <p:cNvSpPr/>
          <p:nvPr/>
        </p:nvSpPr>
        <p:spPr>
          <a:xfrm flipH="true" flipV="false" rot="1409345">
            <a:off x="14096325" y="2537237"/>
            <a:ext cx="2009996" cy="1678347"/>
          </a:xfrm>
          <a:custGeom>
            <a:avLst/>
            <a:gdLst/>
            <a:ahLst/>
            <a:cxnLst/>
            <a:rect r="r" b="b" t="t" l="l"/>
            <a:pathLst>
              <a:path h="1678347" w="2009996">
                <a:moveTo>
                  <a:pt x="2009996" y="0"/>
                </a:moveTo>
                <a:lnTo>
                  <a:pt x="0" y="0"/>
                </a:lnTo>
                <a:lnTo>
                  <a:pt x="0" y="1678347"/>
                </a:lnTo>
                <a:lnTo>
                  <a:pt x="2009996" y="1678347"/>
                </a:lnTo>
                <a:lnTo>
                  <a:pt x="2009996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4" id="84"/>
          <p:cNvSpPr txBox="true"/>
          <p:nvPr/>
        </p:nvSpPr>
        <p:spPr>
          <a:xfrm rot="0">
            <a:off x="2696177" y="4600575"/>
            <a:ext cx="3819624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033B86"/>
                </a:solidFill>
                <a:latin typeface="Poppins Bold"/>
                <a:ea typeface="Poppins Bold"/>
                <a:cs typeface="Poppins Bold"/>
                <a:sym typeface="Poppins Bold"/>
              </a:rPr>
              <a:t>ECONOMIC IMPACT: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15443495" y="6085350"/>
            <a:ext cx="1779597" cy="240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  <a:spcBef>
                <a:spcPct val="0"/>
              </a:spcBef>
            </a:pPr>
            <a:r>
              <a:rPr lang="en-US" b="true" sz="16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Faster turnaround on approval not</a:t>
            </a:r>
            <a:r>
              <a:rPr lang="en-US" b="true" sz="16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es, inspection summaries, and board decks means quicker decision cycles across departments.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2696177" y="2903881"/>
            <a:ext cx="544480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Removes incentive for shadow IT by keeping confidential data off public AI tools.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Logs in every model and tool action for built-in audit and compliance. 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2696177" y="5240650"/>
            <a:ext cx="5444805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 Frees up significant engineer time from routine paperwork for higher-value work, </a:t>
            </a:r>
            <a:r>
              <a:rPr lang="en-US" b="true" sz="18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thus improving throughput without adding headcount.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2696177" y="6971175"/>
            <a:ext cx="4932859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033B86"/>
                </a:solidFill>
                <a:latin typeface="Poppins Bold"/>
                <a:ea typeface="Poppins Bold"/>
                <a:cs typeface="Poppins Bold"/>
                <a:sym typeface="Poppins Bold"/>
              </a:rPr>
              <a:t>ENVIRONMENTAL IMPACT: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0231890" y="6085350"/>
            <a:ext cx="1779597" cy="1924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  <a:spcBef>
                <a:spcPct val="0"/>
              </a:spcBef>
            </a:pPr>
            <a:r>
              <a:rPr lang="en-US" b="true" sz="16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Engin</a:t>
            </a:r>
            <a:r>
              <a:rPr lang="en-US" b="true" sz="16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eers reclaim about 1 hour per day from manual drafting, data extraction, and summarizing correspondence.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2696177" y="7579635"/>
            <a:ext cx="5803953" cy="1352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One on-pr</a:t>
            </a:r>
            <a:r>
              <a:rPr lang="en-US" b="true" sz="18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em server reduces redundant cloud compute and repeated manual effort.</a:t>
            </a:r>
          </a:p>
          <a:p>
            <a:pPr algn="l">
              <a:lnSpc>
                <a:spcPts val="2160"/>
              </a:lnSpc>
              <a:spcBef>
                <a:spcPct val="0"/>
              </a:spcBef>
            </a:pPr>
            <a:r>
              <a:rPr lang="en-US" b="true" sz="180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Digitizing records cuts reliance on printed documentation, helps lower digital &amp; physical waste.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2696177" y="2294281"/>
            <a:ext cx="3084215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033B86"/>
                </a:solidFill>
                <a:latin typeface="Poppins Bold"/>
                <a:ea typeface="Poppins Bold"/>
                <a:cs typeface="Poppins Bold"/>
                <a:sym typeface="Poppins Bold"/>
              </a:rPr>
              <a:t>SOCIAL IMPACT: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12832930" y="6103260"/>
            <a:ext cx="1779597" cy="2162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0"/>
              </a:lnSpc>
              <a:spcBef>
                <a:spcPct val="0"/>
              </a:spcBef>
            </a:pPr>
            <a:r>
              <a:rPr lang="en-US" b="true" sz="16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Institutional knowl</a:t>
            </a:r>
            <a:r>
              <a:rPr lang="en-US" b="true" sz="16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edge in SOPs and correspondence becomes searchable with citations, not lost when senior staff retire.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2796878" y="1588491"/>
            <a:ext cx="173017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3000">
                <a:solidFill>
                  <a:srgbClr val="1F497D"/>
                </a:solidFill>
                <a:latin typeface="Poppins Bold"/>
                <a:ea typeface="Poppins Bold"/>
                <a:cs typeface="Poppins Bold"/>
                <a:sym typeface="Poppins Bold"/>
              </a:rPr>
              <a:t>BENEFITS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2306471" y="242292"/>
            <a:ext cx="11166837" cy="2136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Secure automation, real impact</a:t>
            </a:r>
          </a:p>
          <a:p>
            <a:pPr algn="ctr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on-premise, at scale.</a:t>
            </a:r>
          </a:p>
          <a:p>
            <a:pPr algn="ctr">
              <a:lnSpc>
                <a:spcPts val="5600"/>
              </a:lnSpc>
            </a:pPr>
          </a:p>
        </p:txBody>
      </p:sp>
      <p:grpSp>
        <p:nvGrpSpPr>
          <p:cNvPr name="Group 95" id="95"/>
          <p:cNvGrpSpPr/>
          <p:nvPr/>
        </p:nvGrpSpPr>
        <p:grpSpPr>
          <a:xfrm rot="0">
            <a:off x="159634" y="155403"/>
            <a:ext cx="1843360" cy="1495343"/>
            <a:chOff x="0" y="0"/>
            <a:chExt cx="2457814" cy="199379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457814" cy="1993791"/>
            </a:xfrm>
            <a:custGeom>
              <a:avLst/>
              <a:gdLst/>
              <a:ahLst/>
              <a:cxnLst/>
              <a:rect r="r" b="b" t="t" l="l"/>
              <a:pathLst>
                <a:path h="1993791" w="2457814">
                  <a:moveTo>
                    <a:pt x="0" y="0"/>
                  </a:moveTo>
                  <a:lnTo>
                    <a:pt x="2457814" y="0"/>
                  </a:lnTo>
                  <a:lnTo>
                    <a:pt x="2457814" y="1993791"/>
                  </a:lnTo>
                  <a:lnTo>
                    <a:pt x="0" y="1993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2709" t="-9462" r="-1361" b="-18829"/>
              </a:stretch>
            </a:blip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720468" y="125417"/>
              <a:ext cx="1016877" cy="1151018"/>
            </a:xfrm>
            <a:custGeom>
              <a:avLst/>
              <a:gdLst/>
              <a:ahLst/>
              <a:cxnLst/>
              <a:rect r="r" b="b" t="t" l="l"/>
              <a:pathLst>
                <a:path h="1151018" w="1016877">
                  <a:moveTo>
                    <a:pt x="0" y="0"/>
                  </a:moveTo>
                  <a:lnTo>
                    <a:pt x="1016877" y="0"/>
                  </a:lnTo>
                  <a:lnTo>
                    <a:pt x="1016877" y="1151018"/>
                  </a:lnTo>
                  <a:lnTo>
                    <a:pt x="0" y="1151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 rot="0">
              <a:off x="0" y="1200235"/>
              <a:ext cx="2457814" cy="595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7"/>
                </a:lnSpc>
              </a:pPr>
              <a:r>
                <a:rPr lang="en-US" b="true" sz="2555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Orchestra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1945600" cy="2333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000"/>
                </a:lnSpc>
              </a:pPr>
              <a:r>
                <a:rPr lang="en-US" sz="5000" b="true">
                  <a:solidFill>
                    <a:srgbClr val="000000"/>
                  </a:solidFill>
                  <a:latin typeface="Poppins Ultra-Bold"/>
                  <a:ea typeface="Poppins Ultra-Bold"/>
                  <a:cs typeface="Poppins Ultra-Bold"/>
                  <a:sym typeface="Poppins Ultra-Bold"/>
                </a:rPr>
                <a:t>RESEARCH 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-5400000">
            <a:off x="11544806" y="-1471107"/>
            <a:ext cx="1770638" cy="9658350"/>
            <a:chOff x="0" y="0"/>
            <a:chExt cx="466341" cy="254376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6341" cy="2543763"/>
            </a:xfrm>
            <a:custGeom>
              <a:avLst/>
              <a:gdLst/>
              <a:ahLst/>
              <a:cxnLst/>
              <a:rect r="r" b="b" t="t" l="l"/>
              <a:pathLst>
                <a:path h="2543763" w="466341">
                  <a:moveTo>
                    <a:pt x="466341" y="0"/>
                  </a:moveTo>
                  <a:lnTo>
                    <a:pt x="466341" y="2543763"/>
                  </a:lnTo>
                  <a:lnTo>
                    <a:pt x="233171" y="2416763"/>
                  </a:lnTo>
                  <a:lnTo>
                    <a:pt x="0" y="2543763"/>
                  </a:lnTo>
                  <a:lnTo>
                    <a:pt x="0" y="0"/>
                  </a:lnTo>
                  <a:lnTo>
                    <a:pt x="466341" y="0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66341" cy="2435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521711" y="2020246"/>
            <a:ext cx="9542813" cy="1850892"/>
            <a:chOff x="0" y="0"/>
            <a:chExt cx="2513333" cy="48747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513333" cy="487478"/>
            </a:xfrm>
            <a:custGeom>
              <a:avLst/>
              <a:gdLst/>
              <a:ahLst/>
              <a:cxnLst/>
              <a:rect r="r" b="b" t="t" l="l"/>
              <a:pathLst>
                <a:path h="487478" w="2513333">
                  <a:moveTo>
                    <a:pt x="0" y="0"/>
                  </a:moveTo>
                  <a:lnTo>
                    <a:pt x="2513333" y="0"/>
                  </a:lnTo>
                  <a:lnTo>
                    <a:pt x="2513333" y="487478"/>
                  </a:lnTo>
                  <a:lnTo>
                    <a:pt x="0" y="487478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2513333" cy="506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31799" indent="-215899" lvl="1">
                <a:lnSpc>
                  <a:spcPts val="23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Local LLM + RAG deployments — proven in banking, defense, healthcare</a:t>
              </a:r>
            </a:p>
            <a:p>
              <a:pPr algn="l" marL="431799" indent="-215899" lvl="1">
                <a:lnSpc>
                  <a:spcPts val="23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Models: Qwen3-Coder, DeepSeek-OCR (open-weight, benchmarked)</a:t>
              </a:r>
            </a:p>
            <a:p>
              <a:pPr algn="l" marL="431799" indent="-215899" lvl="1">
                <a:lnSpc>
                  <a:spcPts val="23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Infra: Qdrant (vector DB), Docker (sandboxed execution)</a:t>
              </a:r>
            </a:p>
            <a:p>
              <a:pPr algn="l">
                <a:lnSpc>
                  <a:spcPts val="23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-5400000">
            <a:off x="11544806" y="923485"/>
            <a:ext cx="1770638" cy="9658350"/>
            <a:chOff x="0" y="0"/>
            <a:chExt cx="466341" cy="254376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66341" cy="2543763"/>
            </a:xfrm>
            <a:custGeom>
              <a:avLst/>
              <a:gdLst/>
              <a:ahLst/>
              <a:cxnLst/>
              <a:rect r="r" b="b" t="t" l="l"/>
              <a:pathLst>
                <a:path h="2543763" w="466341">
                  <a:moveTo>
                    <a:pt x="466341" y="0"/>
                  </a:moveTo>
                  <a:lnTo>
                    <a:pt x="466341" y="2543763"/>
                  </a:lnTo>
                  <a:lnTo>
                    <a:pt x="233171" y="2416763"/>
                  </a:lnTo>
                  <a:lnTo>
                    <a:pt x="0" y="2543763"/>
                  </a:lnTo>
                  <a:lnTo>
                    <a:pt x="0" y="0"/>
                  </a:lnTo>
                  <a:lnTo>
                    <a:pt x="466341" y="0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66341" cy="2435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521711" y="4414837"/>
            <a:ext cx="9542813" cy="1850892"/>
            <a:chOff x="0" y="0"/>
            <a:chExt cx="2513333" cy="48747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13333" cy="487478"/>
            </a:xfrm>
            <a:custGeom>
              <a:avLst/>
              <a:gdLst/>
              <a:ahLst/>
              <a:cxnLst/>
              <a:rect r="r" b="b" t="t" l="l"/>
              <a:pathLst>
                <a:path h="487478" w="2513333">
                  <a:moveTo>
                    <a:pt x="0" y="0"/>
                  </a:moveTo>
                  <a:lnTo>
                    <a:pt x="2513333" y="0"/>
                  </a:lnTo>
                  <a:lnTo>
                    <a:pt x="2513333" y="487478"/>
                  </a:lnTo>
                  <a:lnTo>
                    <a:pt x="0" y="487478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2513333" cy="5065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31799" indent="-215899" lvl="1">
                <a:lnSpc>
                  <a:spcPts val="23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Confidence via multi-agent agreement — active LLM research area; </a:t>
              </a:r>
            </a:p>
            <a:p>
              <a:pPr algn="l" marL="431799" indent="-215899" lvl="1">
                <a:lnSpc>
                  <a:spcPts val="2399"/>
                </a:lnSpc>
                <a:buFont typeface="Arial"/>
                <a:buChar char="•"/>
              </a:pPr>
              <a:r>
                <a:rPr lang="en-US" b="true" sz="1999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arXiv 2602.11619, "Behavioral Consistency as an Uncertainty Signal for LLM Agents"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-5400000">
            <a:off x="11544806" y="3329350"/>
            <a:ext cx="1770638" cy="9658350"/>
            <a:chOff x="0" y="0"/>
            <a:chExt cx="466341" cy="254376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66341" cy="2543763"/>
            </a:xfrm>
            <a:custGeom>
              <a:avLst/>
              <a:gdLst/>
              <a:ahLst/>
              <a:cxnLst/>
              <a:rect r="r" b="b" t="t" l="l"/>
              <a:pathLst>
                <a:path h="2543763" w="466341">
                  <a:moveTo>
                    <a:pt x="466341" y="0"/>
                  </a:moveTo>
                  <a:lnTo>
                    <a:pt x="466341" y="2543763"/>
                  </a:lnTo>
                  <a:lnTo>
                    <a:pt x="233171" y="2416763"/>
                  </a:lnTo>
                  <a:lnTo>
                    <a:pt x="0" y="2543763"/>
                  </a:lnTo>
                  <a:lnTo>
                    <a:pt x="0" y="0"/>
                  </a:lnTo>
                  <a:lnTo>
                    <a:pt x="466341" y="0"/>
                  </a:lnTo>
                  <a:close/>
                </a:path>
              </a:pathLst>
            </a:custGeom>
            <a:solidFill>
              <a:srgbClr val="1F497D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66341" cy="24358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521711" y="6820703"/>
            <a:ext cx="9542813" cy="1850892"/>
            <a:chOff x="0" y="0"/>
            <a:chExt cx="2513333" cy="48747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13333" cy="487478"/>
            </a:xfrm>
            <a:custGeom>
              <a:avLst/>
              <a:gdLst/>
              <a:ahLst/>
              <a:cxnLst/>
              <a:rect r="r" b="b" t="t" l="l"/>
              <a:pathLst>
                <a:path h="487478" w="2513333">
                  <a:moveTo>
                    <a:pt x="0" y="0"/>
                  </a:moveTo>
                  <a:lnTo>
                    <a:pt x="2513333" y="0"/>
                  </a:lnTo>
                  <a:lnTo>
                    <a:pt x="2513333" y="487478"/>
                  </a:lnTo>
                  <a:lnTo>
                    <a:pt x="0" y="487478"/>
                  </a:lnTo>
                  <a:close/>
                </a:path>
              </a:pathLst>
            </a:custGeom>
            <a:solidFill>
              <a:srgbClr val="4A7EBB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2513333" cy="51605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Data residency &amp; compliance regulations for refineries</a:t>
              </a:r>
            </a:p>
            <a:p>
              <a:pPr algn="l" marL="431801" indent="-215900" lvl="1">
                <a:lnSpc>
                  <a:spcPts val="2400"/>
                </a:lnSpc>
                <a:buFont typeface="Arial"/>
                <a:buChar char="•"/>
              </a:pPr>
              <a:r>
                <a:rPr lang="en-US" b="true" sz="2000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NCIIPC critical infrastructure &amp; CERT-In mandatory reporting norms (energy sector)</a:t>
              </a:r>
            </a:p>
            <a:p>
              <a:pPr algn="l">
                <a:lnSpc>
                  <a:spcPts val="240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673201" y="2020246"/>
            <a:ext cx="3625572" cy="1850892"/>
            <a:chOff x="0" y="0"/>
            <a:chExt cx="954883" cy="48747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54883" cy="487478"/>
            </a:xfrm>
            <a:custGeom>
              <a:avLst/>
              <a:gdLst/>
              <a:ahLst/>
              <a:cxnLst/>
              <a:rect r="r" b="b" t="t" l="l"/>
              <a:pathLst>
                <a:path h="487478" w="954883">
                  <a:moveTo>
                    <a:pt x="0" y="0"/>
                  </a:moveTo>
                  <a:lnTo>
                    <a:pt x="954883" y="0"/>
                  </a:lnTo>
                  <a:lnTo>
                    <a:pt x="954883" y="487478"/>
                  </a:lnTo>
                  <a:lnTo>
                    <a:pt x="0" y="487478"/>
                  </a:ln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954883" cy="49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9"/>
                </a:lnSpc>
              </a:pPr>
              <a:r>
                <a:rPr lang="en-US" b="true" sz="22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Technical References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673201" y="4414837"/>
            <a:ext cx="3625572" cy="1850892"/>
            <a:chOff x="0" y="0"/>
            <a:chExt cx="954883" cy="48747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54883" cy="487478"/>
            </a:xfrm>
            <a:custGeom>
              <a:avLst/>
              <a:gdLst/>
              <a:ahLst/>
              <a:cxnLst/>
              <a:rect r="r" b="b" t="t" l="l"/>
              <a:pathLst>
                <a:path h="487478" w="954883">
                  <a:moveTo>
                    <a:pt x="0" y="0"/>
                  </a:moveTo>
                  <a:lnTo>
                    <a:pt x="954883" y="0"/>
                  </a:lnTo>
                  <a:lnTo>
                    <a:pt x="954883" y="487478"/>
                  </a:lnTo>
                  <a:lnTo>
                    <a:pt x="0" y="487478"/>
                  </a:ln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954883" cy="49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60"/>
                </a:lnSpc>
              </a:pPr>
              <a:r>
                <a:rPr lang="en-US" b="true" sz="230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LLM Research Areas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673201" y="6808654"/>
            <a:ext cx="3625572" cy="1850892"/>
            <a:chOff x="0" y="0"/>
            <a:chExt cx="954883" cy="48747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54883" cy="487478"/>
            </a:xfrm>
            <a:custGeom>
              <a:avLst/>
              <a:gdLst/>
              <a:ahLst/>
              <a:cxnLst/>
              <a:rect r="r" b="b" t="t" l="l"/>
              <a:pathLst>
                <a:path h="487478" w="954883">
                  <a:moveTo>
                    <a:pt x="0" y="0"/>
                  </a:moveTo>
                  <a:lnTo>
                    <a:pt x="954883" y="0"/>
                  </a:lnTo>
                  <a:lnTo>
                    <a:pt x="954883" y="487478"/>
                  </a:lnTo>
                  <a:lnTo>
                    <a:pt x="0" y="487478"/>
                  </a:ln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9525"/>
              <a:ext cx="954883" cy="4970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59"/>
                </a:lnSpc>
              </a:pPr>
              <a:r>
                <a:rPr lang="en-US" b="true" sz="2299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Confidentiality and Compliance Agreements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5400000">
            <a:off x="4984409" y="2344135"/>
            <a:ext cx="1851666" cy="1222938"/>
            <a:chOff x="0" y="0"/>
            <a:chExt cx="487682" cy="32209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7682" cy="322091"/>
            </a:xfrm>
            <a:custGeom>
              <a:avLst/>
              <a:gdLst/>
              <a:ahLst/>
              <a:cxnLst/>
              <a:rect r="r" b="b" t="t" l="l"/>
              <a:pathLst>
                <a:path h="322091" w="487682">
                  <a:moveTo>
                    <a:pt x="243841" y="0"/>
                  </a:moveTo>
                  <a:lnTo>
                    <a:pt x="487682" y="322091"/>
                  </a:lnTo>
                  <a:lnTo>
                    <a:pt x="0" y="322091"/>
                  </a:lnTo>
                  <a:lnTo>
                    <a:pt x="243841" y="0"/>
                  </a:ln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76200" y="130492"/>
              <a:ext cx="335281" cy="168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5400000">
            <a:off x="4984409" y="4734839"/>
            <a:ext cx="1851666" cy="1222938"/>
            <a:chOff x="0" y="0"/>
            <a:chExt cx="487682" cy="32209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87682" cy="322091"/>
            </a:xfrm>
            <a:custGeom>
              <a:avLst/>
              <a:gdLst/>
              <a:ahLst/>
              <a:cxnLst/>
              <a:rect r="r" b="b" t="t" l="l"/>
              <a:pathLst>
                <a:path h="322091" w="487682">
                  <a:moveTo>
                    <a:pt x="243841" y="0"/>
                  </a:moveTo>
                  <a:lnTo>
                    <a:pt x="487682" y="322091"/>
                  </a:lnTo>
                  <a:lnTo>
                    <a:pt x="0" y="322091"/>
                  </a:lnTo>
                  <a:lnTo>
                    <a:pt x="243841" y="0"/>
                  </a:ln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130492"/>
              <a:ext cx="335281" cy="168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5400000">
            <a:off x="4984409" y="7138955"/>
            <a:ext cx="1851666" cy="1222938"/>
            <a:chOff x="0" y="0"/>
            <a:chExt cx="487682" cy="32209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87682" cy="322091"/>
            </a:xfrm>
            <a:custGeom>
              <a:avLst/>
              <a:gdLst/>
              <a:ahLst/>
              <a:cxnLst/>
              <a:rect r="r" b="b" t="t" l="l"/>
              <a:pathLst>
                <a:path h="322091" w="487682">
                  <a:moveTo>
                    <a:pt x="243841" y="0"/>
                  </a:moveTo>
                  <a:lnTo>
                    <a:pt x="487682" y="322091"/>
                  </a:lnTo>
                  <a:lnTo>
                    <a:pt x="0" y="322091"/>
                  </a:lnTo>
                  <a:lnTo>
                    <a:pt x="243841" y="0"/>
                  </a:lnTo>
                  <a:close/>
                </a:path>
              </a:pathLst>
            </a:custGeom>
            <a:solidFill>
              <a:srgbClr val="C2DCFF"/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130492"/>
              <a:ext cx="335281" cy="1685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59634" y="155403"/>
            <a:ext cx="1843360" cy="1495343"/>
            <a:chOff x="0" y="0"/>
            <a:chExt cx="2457814" cy="199379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457814" cy="1993791"/>
            </a:xfrm>
            <a:custGeom>
              <a:avLst/>
              <a:gdLst/>
              <a:ahLst/>
              <a:cxnLst/>
              <a:rect r="r" b="b" t="t" l="l"/>
              <a:pathLst>
                <a:path h="1993791" w="2457814">
                  <a:moveTo>
                    <a:pt x="0" y="0"/>
                  </a:moveTo>
                  <a:lnTo>
                    <a:pt x="2457814" y="0"/>
                  </a:lnTo>
                  <a:lnTo>
                    <a:pt x="2457814" y="1993791"/>
                  </a:lnTo>
                  <a:lnTo>
                    <a:pt x="0" y="1993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709" t="-9462" r="-1361" b="-18829"/>
              </a:stretch>
            </a:blip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720468" y="125417"/>
              <a:ext cx="1016877" cy="1151018"/>
            </a:xfrm>
            <a:custGeom>
              <a:avLst/>
              <a:gdLst/>
              <a:ahLst/>
              <a:cxnLst/>
              <a:rect r="r" b="b" t="t" l="l"/>
              <a:pathLst>
                <a:path h="1151018" w="1016877">
                  <a:moveTo>
                    <a:pt x="0" y="0"/>
                  </a:moveTo>
                  <a:lnTo>
                    <a:pt x="1016877" y="0"/>
                  </a:lnTo>
                  <a:lnTo>
                    <a:pt x="1016877" y="1151018"/>
                  </a:lnTo>
                  <a:lnTo>
                    <a:pt x="0" y="1151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 rot="0">
              <a:off x="0" y="1200235"/>
              <a:ext cx="2457814" cy="5954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77"/>
                </a:lnSpc>
              </a:pPr>
              <a:r>
                <a:rPr lang="en-US" b="true" sz="2555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Orchestra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DAHUiUqS5hM</dc:identifier>
  <dcterms:modified xsi:type="dcterms:W3CDTF">2011-08-01T06:04:30Z</dcterms:modified>
  <cp:revision>1</cp:revision>
  <dc:title>NMIET_SIH_2026_PPT_Template.pptx</dc:title>
</cp:coreProperties>
</file>